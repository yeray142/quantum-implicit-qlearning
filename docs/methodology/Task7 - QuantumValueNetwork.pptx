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4864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Good [morning / afternoon / evening]. My name is ___ and today I'll walk you through the core component of Issue #7 in our Q-IQL project: the QuantumValueNetwork — a hybrid quantum-classical value network that estimates V(s) for the IQL reinforcement-learning algorithm.
Over the next few minutes we'll cover:
  • What problem this module solves,
  • How the quantum circuit is designed,
  • How state encoding works, and
  • How the test suite verifies each piece.
Let's get started.
[Estimated time: ~30 seconds. Maintain eye contact while listing the four agenda points.]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MOTIVATION
In IQL, V(s) is the heart of the algorithm: it feeds both the Bellman backup used to update Q and the advantage signal that drives the actor. Because it is a state-only function — no actions — the input is relatively small, making 8 qubits sufficient for this phase.
The choice of a local observable on qubit 0 is deliberate. Cerezo et al. proved that measuring only a single local qubit means the gradient can decay at most polynomially with system size, in stark contrast with global observables where the gradient collapses exponentially — the so-called barren plateau, one of the main obstacles in quantum training.
Circuit depth is also controlled: L ≤ floor(log₂(8)) = 3. This combines the polynomial gradient guarantee with enough expressivity to approximate value functions.
Finally, layerwise training — activating one layer first, then scaling up — stabilises optimisation by preventing parameters from landing in zero-gradient regions right from the start.
[Estimated time: ~90 seconds. Pause on "barren plateau" and invite a question if the audience seems familiar with the concept.]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CIRCUIT ARCHITECTURE
Let's look at how the circuit is structured.
The circuit opens with a fixed nearest-neighbour CZ preamble. These gates create initial entanglement without contributing to the trainable depth — and therefore without worsening the gradient landscape.
Next come up to 3 Data Re-uploading layers. In each layer, for every qubit j a SU(2) rotation is applied: Rz Rx Rz, with angles θⱼ + wⱼ · xsⱼ, where xsⱼ is the encoded value of observation feature j. The key insight of DRU is that we re-inject the data at every layer, which lets the circuit approximate arbitrary functions — analogous to hidden layers in a classical network.
Between layers, a nearest-neighbour CZ ladder adds quantum correlations across qubits.
Finally, we measure only qubit 0 using the Pauli-Z observable. This value — in [-1, 1] — is passed through a classical affine head (two trainable scalars a and b) to produce V(s) with no range restriction.
Total parameter count: 2 sets (theta and w) × 3 layers × 8 qubits × 3 angles = 144 quantum parameters, plus 2 classical = 146.
[Estimated time: ~2 minutes. Point to each section of the circuit diagram as you describe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ENCODING &amp; INITIALISATION
There are two critical engineering choices before the circuit ever sees the data.
First, encoding. Observation values s can have arbitrary scale, but the circuit needs bounded rotation angles. So we standardise s using the dataset mean and standard deviation, then apply arctan — which squashes any real number into the open interval (-π/2, π/2). This guarantees no angle is ever excessively large, which could saturate the rotations.
If the observation dimension is smaller than the number of qubits, we zero-pad. If it's larger, we truncate to the first n_qubits components.
Second, initialisation. We follow Grant et al. 2019 with the identity-block trick: initialise θ randomly, then set w = -θ. This makes the gate U exactly the identity at the starting point for any input xs. The benefit is twofold: the initial output is neutral, and — more importantly — gradients exist and are non-zero from the very first training step.
Test T4 in our suite verifies this condition is met at construction time: |w + θ|_max &lt; 1e-7.
[Estimated time: ~90 seconds. Point to the equations on the slide as you explain each piece.]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TEST SUITE
The suite contains 10 tests, covering properties from the most basic interface guarantees to quantum-specific requirements.
T1 and T2 verify the high-level interface: correct output dimensions, and that the raw circuit value respects the Pauli-Z expectation range.
T3 and T10 are the gradient tests. T3 is the most critical: it uses PennyLane's parameter-shift differentiation — the standard method for quantum gradients — and verifies that every parameter, both quantum and classical, receives a finite gradient after calling backward().
T4 checks the identity-block initialisation we just saw.
T5 verifies that the layerwise training control works correctly and raises a ValueError for out-of-range inputs.
T6 tests the arctan encoding in isolation, without requiring a full circuit evaluation.
T7 does an exact parameter count to confirm the implemented architecture matches the specification.
T8 and T9 cover robustness: deterministic outputs across multiple forward passes, and correct zero-padding when obs_dim is smaller than n_qubits.
[Estimated time: ~2 minutes. Walk the table left column then right column. No need to go into implementation details of each test.]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KEY CODE
Let's look at the most representative fragments.
Top-left, forward(). First it encodes the entire batch with arctan. Then it zero-pads if needed. Finally, it evaluates the QNode separately for each sample in the batch — necessary because the parameter-shift rule does not support native batching — and stacks the results. The final value is the affine transform a · expval + b.
Top-right, the PennyLane QNode. Notice the decorator with diff_method="parameter-shift". This tells PennyLane to compute gradients using the parameter-shift rule rather than backpropagation, which is not directly applicable on real quantum hardware. Inside: fixed CZ preamble, then for each active layer Rz Rx Rz rotations with angles theta + w*xs, followed by the entangling layer.
Bottom-left, the identity-block initialisation in three lines: sample theta uniformly, clone and negate for w, and wrap both as PyTorch trainable parameters.
Bottom-right, set_active_layers: a range check and an assignment. Simple but fundamental for the layerwise training strategy.
[Estimated time: ~2 minutes. If the audience is technical, open space for questions about the parameter-shift rule.]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SUMMARY &amp; NEXT STEPS
To close, let's recap what we have.
We implemented an 8-qubit DRU circuit with up to 3 layers, measuring only qubit 0 with a local Pauli-Z observable to guarantee polynomial gradients. Arctan encoding maps raw observations to bounded rotation angles using running dataset statistics. The identity-block initialisation ensures training starts from a point with non-zero gradients. The affine head decouples the network's output range from the circuit's measurement range.
All of this is backed by 10 unit tests verifying properties from output shape to gradient flow to parameter count.
As next steps: the module needs to be integrated into the Q-IQL training loop, the running statistics should be wired to the replay buffer, benchmarks should compare default.qubit with lightning.qubit for production use, and the active-layer scheduler needs to be implemented as described by Skolik et al.
Questions?
[Leave at least 5 minutes for Q&amp;A. If no one asks first, offer: "Would anyone like to see the test suite output live?"]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s-ES"/>
          </a:p>
        </p:txBody>
      </p:sp>
      <p:sp>
        <p:nvSpPr>
          <p:cNvPr id="3" name="Shape 1"/>
          <p:cNvSpPr/>
          <p:nvPr/>
        </p:nvSpPr>
        <p:spPr>
          <a:xfrm>
            <a:off x="45720" y="457200"/>
            <a:ext cx="73152" cy="73152"/>
          </a:xfrm>
          <a:prstGeom prst="ellipse">
            <a:avLst/>
          </a:prstGeom>
          <a:solidFill>
            <a:srgbClr val="EE9B00"/>
          </a:solidFill>
          <a:ln w="12700">
            <a:solidFill>
              <a:srgbClr val="EE9B00"/>
            </a:solidFill>
            <a:prstDash val="solid"/>
          </a:ln>
        </p:spPr>
        <p:txBody>
          <a:bodyPr/>
          <a:lstStyle/>
          <a:p>
            <a:endParaRPr lang="es-ES"/>
          </a:p>
        </p:txBody>
      </p:sp>
      <p:sp>
        <p:nvSpPr>
          <p:cNvPr id="4" name="Shape 2"/>
          <p:cNvSpPr/>
          <p:nvPr/>
        </p:nvSpPr>
        <p:spPr>
          <a:xfrm>
            <a:off x="45720" y="1216152"/>
            <a:ext cx="73152" cy="73152"/>
          </a:xfrm>
          <a:prstGeom prst="ellipse">
            <a:avLst/>
          </a:prstGeom>
          <a:solidFill>
            <a:srgbClr val="EE9B00"/>
          </a:solidFill>
          <a:ln w="12700">
            <a:solidFill>
              <a:srgbClr val="EE9B00"/>
            </a:solidFill>
            <a:prstDash val="solid"/>
          </a:ln>
        </p:spPr>
        <p:txBody>
          <a:bodyPr/>
          <a:lstStyle/>
          <a:p>
            <a:endParaRPr lang="es-ES"/>
          </a:p>
        </p:txBody>
      </p:sp>
      <p:sp>
        <p:nvSpPr>
          <p:cNvPr id="5" name="Shape 3"/>
          <p:cNvSpPr/>
          <p:nvPr/>
        </p:nvSpPr>
        <p:spPr>
          <a:xfrm>
            <a:off x="45720" y="1975104"/>
            <a:ext cx="73152" cy="73152"/>
          </a:xfrm>
          <a:prstGeom prst="ellipse">
            <a:avLst/>
          </a:prstGeom>
          <a:solidFill>
            <a:srgbClr val="EE9B00"/>
          </a:solidFill>
          <a:ln w="12700">
            <a:solidFill>
              <a:srgbClr val="EE9B00"/>
            </a:solidFill>
            <a:prstDash val="solid"/>
          </a:ln>
        </p:spPr>
        <p:txBody>
          <a:bodyPr/>
          <a:lstStyle/>
          <a:p>
            <a:endParaRPr lang="es-ES"/>
          </a:p>
        </p:txBody>
      </p:sp>
      <p:sp>
        <p:nvSpPr>
          <p:cNvPr id="6" name="Shape 4"/>
          <p:cNvSpPr/>
          <p:nvPr/>
        </p:nvSpPr>
        <p:spPr>
          <a:xfrm>
            <a:off x="45720" y="2734056"/>
            <a:ext cx="73152" cy="73152"/>
          </a:xfrm>
          <a:prstGeom prst="ellipse">
            <a:avLst/>
          </a:prstGeom>
          <a:solidFill>
            <a:srgbClr val="EE9B00"/>
          </a:solidFill>
          <a:ln w="12700">
            <a:solidFill>
              <a:srgbClr val="EE9B00"/>
            </a:solidFill>
            <a:prstDash val="solid"/>
          </a:ln>
        </p:spPr>
        <p:txBody>
          <a:bodyPr/>
          <a:lstStyle/>
          <a:p>
            <a:endParaRPr lang="es-ES"/>
          </a:p>
        </p:txBody>
      </p:sp>
      <p:sp>
        <p:nvSpPr>
          <p:cNvPr id="7" name="Shape 5"/>
          <p:cNvSpPr/>
          <p:nvPr/>
        </p:nvSpPr>
        <p:spPr>
          <a:xfrm>
            <a:off x="45720" y="3493008"/>
            <a:ext cx="73152" cy="73152"/>
          </a:xfrm>
          <a:prstGeom prst="ellipse">
            <a:avLst/>
          </a:prstGeom>
          <a:solidFill>
            <a:srgbClr val="EE9B00"/>
          </a:solidFill>
          <a:ln w="12700">
            <a:solidFill>
              <a:srgbClr val="EE9B00"/>
            </a:solidFill>
            <a:prstDash val="solid"/>
          </a:ln>
        </p:spPr>
        <p:txBody>
          <a:bodyPr/>
          <a:lstStyle/>
          <a:p>
            <a:endParaRPr lang="es-ES"/>
          </a:p>
        </p:txBody>
      </p:sp>
      <p:sp>
        <p:nvSpPr>
          <p:cNvPr id="8" name="Shape 6"/>
          <p:cNvSpPr/>
          <p:nvPr/>
        </p:nvSpPr>
        <p:spPr>
          <a:xfrm>
            <a:off x="45720" y="4251960"/>
            <a:ext cx="73152" cy="73152"/>
          </a:xfrm>
          <a:prstGeom prst="ellipse">
            <a:avLst/>
          </a:prstGeom>
          <a:solidFill>
            <a:srgbClr val="EE9B00"/>
          </a:solidFill>
          <a:ln w="12700">
            <a:solidFill>
              <a:srgbClr val="EE9B00"/>
            </a:solidFill>
            <a:prstDash val="solid"/>
          </a:ln>
        </p:spPr>
        <p:txBody>
          <a:bodyPr/>
          <a:lstStyle/>
          <a:p>
            <a:endParaRPr lang="es-ES"/>
          </a:p>
        </p:txBody>
      </p:sp>
      <p:sp>
        <p:nvSpPr>
          <p:cNvPr id="9" name="Text 7"/>
          <p:cNvSpPr/>
          <p:nvPr/>
        </p:nvSpPr>
        <p:spPr>
          <a:xfrm>
            <a:off x="502920" y="1920075"/>
            <a:ext cx="8412480" cy="86868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Quantum Value Network</a:t>
            </a:r>
            <a:endParaRPr lang="en-US" sz="4400" dirty="0"/>
          </a:p>
        </p:txBody>
      </p:sp>
      <p:sp>
        <p:nvSpPr>
          <p:cNvPr id="12" name="Text 10"/>
          <p:cNvSpPr/>
          <p:nvPr/>
        </p:nvSpPr>
        <p:spPr>
          <a:xfrm>
            <a:off x="502920" y="4526280"/>
            <a:ext cx="8229600" cy="320040"/>
          </a:xfrm>
          <a:prstGeom prst="rect">
            <a:avLst/>
          </a:prstGeom>
          <a:noFill/>
          <a:ln/>
        </p:spPr>
        <p:txBody>
          <a:bodyPr wrap="square" lIns="0" tIns="0" rIns="0" bIns="0" rtlCol="0" anchor="ctr"/>
          <a:lstStyle/>
          <a:p>
            <a:pPr marL="0" indent="0">
              <a:buNone/>
            </a:pPr>
            <a:r>
              <a:rPr lang="en-US" sz="1000" dirty="0">
                <a:solidFill>
                  <a:srgbClr val="8EAAB9"/>
                </a:solidFill>
                <a:latin typeface="Consolas" pitchFamily="34" charset="0"/>
                <a:ea typeface="Consolas" pitchFamily="34" charset="-122"/>
                <a:cs typeface="Consolas" pitchFamily="34" charset="-120"/>
              </a:rPr>
              <a:t>quantum_value_network.py   |   test_quantum_value_network.py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Why a Quantum Circuit for V(s)?</a:t>
            </a:r>
            <a:endParaRPr lang="en-US" sz="3200" dirty="0"/>
          </a:p>
        </p:txBody>
      </p:sp>
      <p:sp>
        <p:nvSpPr>
          <p:cNvPr id="3" name="Shape 1"/>
          <p:cNvSpPr/>
          <p:nvPr/>
        </p:nvSpPr>
        <p:spPr>
          <a:xfrm>
            <a:off x="384048" y="1170432"/>
            <a:ext cx="347472" cy="347472"/>
          </a:xfrm>
          <a:prstGeom prst="ellipse">
            <a:avLst/>
          </a:prstGeom>
          <a:solidFill>
            <a:srgbClr val="0A9396"/>
          </a:solidFill>
          <a:ln w="12700">
            <a:solidFill>
              <a:srgbClr val="0A9396"/>
            </a:solidFill>
            <a:prstDash val="solid"/>
          </a:ln>
        </p:spPr>
        <p:txBody>
          <a:bodyPr/>
          <a:lstStyle/>
          <a:p>
            <a:endParaRPr lang="es-ES"/>
          </a:p>
        </p:txBody>
      </p:sp>
      <p:sp>
        <p:nvSpPr>
          <p:cNvPr id="4" name="Text 2"/>
          <p:cNvSpPr/>
          <p:nvPr/>
        </p:nvSpPr>
        <p:spPr>
          <a:xfrm>
            <a:off x="384048" y="1170432"/>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868680" y="1115568"/>
            <a:ext cx="7863840" cy="274320"/>
          </a:xfrm>
          <a:prstGeom prst="rect">
            <a:avLst/>
          </a:prstGeom>
          <a:noFill/>
          <a:ln/>
        </p:spPr>
        <p:txBody>
          <a:bodyPr wrap="square" lIns="0" tIns="0" rIns="0" bIns="0" rtlCol="0" anchor="ctr"/>
          <a:lstStyle/>
          <a:p>
            <a:pPr marL="0" indent="0">
              <a:buNone/>
            </a:pPr>
            <a:r>
              <a:rPr lang="en-US" sz="1500" b="1" dirty="0">
                <a:solidFill>
                  <a:srgbClr val="94D2BD"/>
                </a:solidFill>
                <a:latin typeface="Calibri" pitchFamily="34" charset="0"/>
                <a:ea typeface="Calibri" pitchFamily="34" charset="-122"/>
                <a:cs typeface="Calibri" pitchFamily="34" charset="-120"/>
              </a:rPr>
              <a:t>V(s) — the central IQL object</a:t>
            </a:r>
            <a:endParaRPr lang="en-US" sz="1500" dirty="0"/>
          </a:p>
        </p:txBody>
      </p:sp>
      <p:sp>
        <p:nvSpPr>
          <p:cNvPr id="6" name="Text 4"/>
          <p:cNvSpPr/>
          <p:nvPr/>
        </p:nvSpPr>
        <p:spPr>
          <a:xfrm>
            <a:off x="868680" y="1389888"/>
            <a:ext cx="7863840" cy="502920"/>
          </a:xfrm>
          <a:prstGeom prst="rect">
            <a:avLst/>
          </a:prstGeom>
          <a:noFill/>
          <a:ln/>
        </p:spPr>
        <p:txBody>
          <a:bodyPr wrap="square" lIns="0" tIns="0" rIns="0" bIns="0" rtlCol="0" anchor="ctr"/>
          <a:lstStyle/>
          <a:p>
            <a:pPr marL="0" indent="0">
              <a:buNone/>
            </a:pPr>
            <a:r>
              <a:rPr lang="en-US" sz="1250" dirty="0">
                <a:solidFill>
                  <a:srgbClr val="E9F5F9"/>
                </a:solidFill>
                <a:latin typeface="Calibri" pitchFamily="34" charset="0"/>
                <a:ea typeface="Calibri" pitchFamily="34" charset="-122"/>
                <a:cs typeface="Calibri" pitchFamily="34" charset="-120"/>
              </a:rPr>
              <a:t>Feeds the Bellman backup and the actor advantage. Scalar state-only input minimises qubit requirements.</a:t>
            </a:r>
            <a:endParaRPr lang="en-US" sz="1250" dirty="0"/>
          </a:p>
        </p:txBody>
      </p:sp>
      <p:sp>
        <p:nvSpPr>
          <p:cNvPr id="7" name="Shape 5"/>
          <p:cNvSpPr/>
          <p:nvPr/>
        </p:nvSpPr>
        <p:spPr>
          <a:xfrm>
            <a:off x="384048" y="2066544"/>
            <a:ext cx="347472" cy="347472"/>
          </a:xfrm>
          <a:prstGeom prst="ellipse">
            <a:avLst/>
          </a:prstGeom>
          <a:solidFill>
            <a:srgbClr val="0A9396"/>
          </a:solidFill>
          <a:ln w="12700">
            <a:solidFill>
              <a:srgbClr val="0A9396"/>
            </a:solidFill>
            <a:prstDash val="solid"/>
          </a:ln>
        </p:spPr>
        <p:txBody>
          <a:bodyPr/>
          <a:lstStyle/>
          <a:p>
            <a:endParaRPr lang="es-ES"/>
          </a:p>
        </p:txBody>
      </p:sp>
      <p:sp>
        <p:nvSpPr>
          <p:cNvPr id="8" name="Text 6"/>
          <p:cNvSpPr/>
          <p:nvPr/>
        </p:nvSpPr>
        <p:spPr>
          <a:xfrm>
            <a:off x="384048" y="2066544"/>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868680" y="2011680"/>
            <a:ext cx="7863840" cy="274320"/>
          </a:xfrm>
          <a:prstGeom prst="rect">
            <a:avLst/>
          </a:prstGeom>
          <a:noFill/>
          <a:ln/>
        </p:spPr>
        <p:txBody>
          <a:bodyPr wrap="square" lIns="0" tIns="0" rIns="0" bIns="0" rtlCol="0" anchor="ctr"/>
          <a:lstStyle/>
          <a:p>
            <a:pPr marL="0" indent="0">
              <a:buNone/>
            </a:pPr>
            <a:r>
              <a:rPr lang="en-US" sz="1500" b="1" dirty="0">
                <a:solidFill>
                  <a:srgbClr val="94D2BD"/>
                </a:solidFill>
                <a:latin typeface="Calibri" pitchFamily="34" charset="0"/>
                <a:ea typeface="Calibri" pitchFamily="34" charset="-122"/>
                <a:cs typeface="Calibri" pitchFamily="34" charset="-120"/>
              </a:rPr>
              <a:t>Local observable (Pauli-Z₀)</a:t>
            </a:r>
            <a:endParaRPr lang="en-US" sz="1500" dirty="0"/>
          </a:p>
        </p:txBody>
      </p:sp>
      <p:sp>
        <p:nvSpPr>
          <p:cNvPr id="10" name="Text 8"/>
          <p:cNvSpPr/>
          <p:nvPr/>
        </p:nvSpPr>
        <p:spPr>
          <a:xfrm>
            <a:off x="868680" y="2286000"/>
            <a:ext cx="7863840" cy="502920"/>
          </a:xfrm>
          <a:prstGeom prst="rect">
            <a:avLst/>
          </a:prstGeom>
          <a:noFill/>
          <a:ln/>
        </p:spPr>
        <p:txBody>
          <a:bodyPr wrap="square" lIns="0" tIns="0" rIns="0" bIns="0" rtlCol="0" anchor="ctr"/>
          <a:lstStyle/>
          <a:p>
            <a:pPr marL="0" indent="0">
              <a:buNone/>
            </a:pPr>
            <a:r>
              <a:rPr lang="en-US" sz="1250" dirty="0">
                <a:solidFill>
                  <a:srgbClr val="E9F5F9"/>
                </a:solidFill>
                <a:latin typeface="Calibri" pitchFamily="34" charset="0"/>
                <a:ea typeface="Calibri" pitchFamily="34" charset="-122"/>
                <a:cs typeface="Calibri" pitchFamily="34" charset="-120"/>
              </a:rPr>
              <a:t>Cerezo et al. 2021 proves local observables keep gradients in O(poly(n)), avoiding the barren plateau.</a:t>
            </a:r>
            <a:endParaRPr lang="en-US" sz="1250" dirty="0"/>
          </a:p>
        </p:txBody>
      </p:sp>
      <p:sp>
        <p:nvSpPr>
          <p:cNvPr id="11" name="Shape 9"/>
          <p:cNvSpPr/>
          <p:nvPr/>
        </p:nvSpPr>
        <p:spPr>
          <a:xfrm>
            <a:off x="384048" y="2962656"/>
            <a:ext cx="347472" cy="347472"/>
          </a:xfrm>
          <a:prstGeom prst="ellipse">
            <a:avLst/>
          </a:prstGeom>
          <a:solidFill>
            <a:srgbClr val="0A9396"/>
          </a:solidFill>
          <a:ln w="12700">
            <a:solidFill>
              <a:srgbClr val="0A9396"/>
            </a:solidFill>
            <a:prstDash val="solid"/>
          </a:ln>
        </p:spPr>
        <p:txBody>
          <a:bodyPr/>
          <a:lstStyle/>
          <a:p>
            <a:endParaRPr lang="es-ES"/>
          </a:p>
        </p:txBody>
      </p:sp>
      <p:sp>
        <p:nvSpPr>
          <p:cNvPr id="12" name="Text 10"/>
          <p:cNvSpPr/>
          <p:nvPr/>
        </p:nvSpPr>
        <p:spPr>
          <a:xfrm>
            <a:off x="384048" y="2962656"/>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868680" y="2907792"/>
            <a:ext cx="7863840" cy="274320"/>
          </a:xfrm>
          <a:prstGeom prst="rect">
            <a:avLst/>
          </a:prstGeom>
          <a:noFill/>
          <a:ln/>
        </p:spPr>
        <p:txBody>
          <a:bodyPr wrap="square" lIns="0" tIns="0" rIns="0" bIns="0" rtlCol="0" anchor="ctr"/>
          <a:lstStyle/>
          <a:p>
            <a:pPr marL="0" indent="0">
              <a:buNone/>
            </a:pPr>
            <a:r>
              <a:rPr lang="en-US" sz="1500" b="1" dirty="0">
                <a:solidFill>
                  <a:srgbClr val="94D2BD"/>
                </a:solidFill>
                <a:latin typeface="Calibri" pitchFamily="34" charset="0"/>
                <a:ea typeface="Calibri" pitchFamily="34" charset="-122"/>
                <a:cs typeface="Calibri" pitchFamily="34" charset="-120"/>
              </a:rPr>
              <a:t>Shallow DRU (L ≤ 3)</a:t>
            </a:r>
            <a:endParaRPr lang="en-US" sz="1500" dirty="0"/>
          </a:p>
        </p:txBody>
      </p:sp>
      <p:sp>
        <p:nvSpPr>
          <p:cNvPr id="14" name="Text 12"/>
          <p:cNvSpPr/>
          <p:nvPr/>
        </p:nvSpPr>
        <p:spPr>
          <a:xfrm>
            <a:off x="868680" y="3182112"/>
            <a:ext cx="7863840" cy="502920"/>
          </a:xfrm>
          <a:prstGeom prst="rect">
            <a:avLst/>
          </a:prstGeom>
          <a:noFill/>
          <a:ln/>
        </p:spPr>
        <p:txBody>
          <a:bodyPr wrap="square" lIns="0" tIns="0" rIns="0" bIns="0" rtlCol="0" anchor="ctr"/>
          <a:lstStyle/>
          <a:p>
            <a:pPr marL="0" indent="0">
              <a:buNone/>
            </a:pPr>
            <a:r>
              <a:rPr lang="en-US" sz="1250" dirty="0">
                <a:solidFill>
                  <a:srgbClr val="E9F5F9"/>
                </a:solidFill>
                <a:latin typeface="Calibri" pitchFamily="34" charset="0"/>
                <a:ea typeface="Calibri" pitchFamily="34" charset="-122"/>
                <a:cs typeface="Calibri" pitchFamily="34" charset="-120"/>
              </a:rPr>
              <a:t>Data Re-uploading (Pérez-Salinas 2020). L ≤ ⌊log₂(8)⌋ = 3 guarantees expressivity without gradient collapse.</a:t>
            </a:r>
            <a:endParaRPr lang="en-US" sz="1250" dirty="0"/>
          </a:p>
        </p:txBody>
      </p:sp>
      <p:sp>
        <p:nvSpPr>
          <p:cNvPr id="15" name="Shape 13"/>
          <p:cNvSpPr/>
          <p:nvPr/>
        </p:nvSpPr>
        <p:spPr>
          <a:xfrm>
            <a:off x="384048" y="3858768"/>
            <a:ext cx="347472" cy="347472"/>
          </a:xfrm>
          <a:prstGeom prst="ellipse">
            <a:avLst/>
          </a:prstGeom>
          <a:solidFill>
            <a:srgbClr val="0A9396"/>
          </a:solidFill>
          <a:ln w="12700">
            <a:solidFill>
              <a:srgbClr val="0A9396"/>
            </a:solidFill>
            <a:prstDash val="solid"/>
          </a:ln>
        </p:spPr>
        <p:txBody>
          <a:bodyPr/>
          <a:lstStyle/>
          <a:p>
            <a:endParaRPr lang="es-ES"/>
          </a:p>
        </p:txBody>
      </p:sp>
      <p:sp>
        <p:nvSpPr>
          <p:cNvPr id="16" name="Text 14"/>
          <p:cNvSpPr/>
          <p:nvPr/>
        </p:nvSpPr>
        <p:spPr>
          <a:xfrm>
            <a:off x="384048" y="385876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868680" y="3803904"/>
            <a:ext cx="7863840" cy="274320"/>
          </a:xfrm>
          <a:prstGeom prst="rect">
            <a:avLst/>
          </a:prstGeom>
          <a:noFill/>
          <a:ln/>
        </p:spPr>
        <p:txBody>
          <a:bodyPr wrap="square" lIns="0" tIns="0" rIns="0" bIns="0" rtlCol="0" anchor="ctr"/>
          <a:lstStyle/>
          <a:p>
            <a:pPr marL="0" indent="0">
              <a:buNone/>
            </a:pPr>
            <a:r>
              <a:rPr lang="en-US" sz="1500" b="1" dirty="0">
                <a:solidFill>
                  <a:srgbClr val="94D2BD"/>
                </a:solidFill>
                <a:latin typeface="Calibri" pitchFamily="34" charset="0"/>
                <a:ea typeface="Calibri" pitchFamily="34" charset="-122"/>
                <a:cs typeface="Calibri" pitchFamily="34" charset="-120"/>
              </a:rPr>
              <a:t>Layerwise training</a:t>
            </a:r>
            <a:endParaRPr lang="en-US" sz="1500" dirty="0"/>
          </a:p>
        </p:txBody>
      </p:sp>
      <p:sp>
        <p:nvSpPr>
          <p:cNvPr id="18" name="Text 16"/>
          <p:cNvSpPr/>
          <p:nvPr/>
        </p:nvSpPr>
        <p:spPr>
          <a:xfrm>
            <a:off x="868680" y="4078224"/>
            <a:ext cx="7863840" cy="502920"/>
          </a:xfrm>
          <a:prstGeom prst="rect">
            <a:avLst/>
          </a:prstGeom>
          <a:noFill/>
          <a:ln/>
        </p:spPr>
        <p:txBody>
          <a:bodyPr wrap="square" lIns="0" tIns="0" rIns="0" bIns="0" rtlCol="0" anchor="ctr"/>
          <a:lstStyle/>
          <a:p>
            <a:pPr marL="0" indent="0">
              <a:buNone/>
            </a:pPr>
            <a:r>
              <a:rPr lang="en-US" sz="1250" dirty="0">
                <a:solidFill>
                  <a:srgbClr val="E9F5F9"/>
                </a:solidFill>
                <a:latin typeface="Calibri" pitchFamily="34" charset="0"/>
                <a:ea typeface="Calibri" pitchFamily="34" charset="-122"/>
                <a:cs typeface="Calibri" pitchFamily="34" charset="-120"/>
              </a:rPr>
              <a:t>Skolik et al. 2021: activate 1 layer → 2 layers → 3 layers to stabilise quantum convergence.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F5F9"/>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594360"/>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Quantum Circuit Architecture</a:t>
            </a:r>
            <a:endParaRPr lang="en-US" sz="3200" dirty="0"/>
          </a:p>
        </p:txBody>
      </p:sp>
      <p:sp>
        <p:nvSpPr>
          <p:cNvPr id="3" name="Text 1"/>
          <p:cNvSpPr/>
          <p:nvPr/>
        </p:nvSpPr>
        <p:spPr>
          <a:xfrm>
            <a:off x="457200" y="941832"/>
            <a:ext cx="548640" cy="320040"/>
          </a:xfrm>
          <a:prstGeom prst="rect">
            <a:avLst/>
          </a:prstGeom>
          <a:noFill/>
          <a:ln/>
        </p:spPr>
        <p:txBody>
          <a:bodyPr wrap="square" lIns="0" tIns="0" rIns="0" bIns="0" rtlCol="0" anchor="ctr"/>
          <a:lstStyle/>
          <a:p>
            <a:pPr marL="0" indent="0" algn="r">
              <a:buNone/>
            </a:pPr>
            <a:r>
              <a:rPr lang="en-US" sz="1100" b="1" dirty="0">
                <a:solidFill>
                  <a:srgbClr val="0D1B2A"/>
                </a:solidFill>
                <a:latin typeface="Consolas" pitchFamily="34" charset="0"/>
                <a:ea typeface="Consolas" pitchFamily="34" charset="-122"/>
                <a:cs typeface="Consolas" pitchFamily="34" charset="-120"/>
              </a:rPr>
              <a:t>q₀</a:t>
            </a:r>
            <a:endParaRPr lang="en-US" sz="1100" dirty="0"/>
          </a:p>
        </p:txBody>
      </p:sp>
      <p:sp>
        <p:nvSpPr>
          <p:cNvPr id="4" name="Text 2"/>
          <p:cNvSpPr/>
          <p:nvPr/>
        </p:nvSpPr>
        <p:spPr>
          <a:xfrm>
            <a:off x="457200" y="1536192"/>
            <a:ext cx="548640" cy="320040"/>
          </a:xfrm>
          <a:prstGeom prst="rect">
            <a:avLst/>
          </a:prstGeom>
          <a:noFill/>
          <a:ln/>
        </p:spPr>
        <p:txBody>
          <a:bodyPr wrap="square" lIns="0" tIns="0" rIns="0" bIns="0" rtlCol="0" anchor="ctr"/>
          <a:lstStyle/>
          <a:p>
            <a:pPr marL="0" indent="0" algn="r">
              <a:buNone/>
            </a:pPr>
            <a:r>
              <a:rPr lang="en-US" sz="1100" b="1" dirty="0">
                <a:solidFill>
                  <a:srgbClr val="0D1B2A"/>
                </a:solidFill>
                <a:latin typeface="Consolas" pitchFamily="34" charset="0"/>
                <a:ea typeface="Consolas" pitchFamily="34" charset="-122"/>
                <a:cs typeface="Consolas" pitchFamily="34" charset="-120"/>
              </a:rPr>
              <a:t>q₁</a:t>
            </a:r>
            <a:endParaRPr lang="en-US" sz="1100" dirty="0"/>
          </a:p>
        </p:txBody>
      </p:sp>
      <p:sp>
        <p:nvSpPr>
          <p:cNvPr id="5" name="Text 3"/>
          <p:cNvSpPr/>
          <p:nvPr/>
        </p:nvSpPr>
        <p:spPr>
          <a:xfrm>
            <a:off x="457200" y="2130552"/>
            <a:ext cx="548640" cy="320040"/>
          </a:xfrm>
          <a:prstGeom prst="rect">
            <a:avLst/>
          </a:prstGeom>
          <a:noFill/>
          <a:ln/>
        </p:spPr>
        <p:txBody>
          <a:bodyPr wrap="square" lIns="0" tIns="0" rIns="0" bIns="0" rtlCol="0" anchor="ctr"/>
          <a:lstStyle/>
          <a:p>
            <a:pPr marL="0" indent="0" algn="r">
              <a:buNone/>
            </a:pPr>
            <a:r>
              <a:rPr lang="en-US" sz="1100" b="1" dirty="0">
                <a:solidFill>
                  <a:srgbClr val="0D1B2A"/>
                </a:solidFill>
                <a:latin typeface="Consolas" pitchFamily="34" charset="0"/>
                <a:ea typeface="Consolas" pitchFamily="34" charset="-122"/>
                <a:cs typeface="Consolas" pitchFamily="34" charset="-120"/>
              </a:rPr>
              <a:t>q₂</a:t>
            </a:r>
            <a:endParaRPr lang="en-US" sz="1100" dirty="0"/>
          </a:p>
        </p:txBody>
      </p:sp>
      <p:sp>
        <p:nvSpPr>
          <p:cNvPr id="6" name="Text 4"/>
          <p:cNvSpPr/>
          <p:nvPr/>
        </p:nvSpPr>
        <p:spPr>
          <a:xfrm>
            <a:off x="457200" y="2724912"/>
            <a:ext cx="548640" cy="320040"/>
          </a:xfrm>
          <a:prstGeom prst="rect">
            <a:avLst/>
          </a:prstGeom>
          <a:noFill/>
          <a:ln/>
        </p:spPr>
        <p:txBody>
          <a:bodyPr wrap="square" lIns="0" tIns="0" rIns="0" bIns="0" rtlCol="0" anchor="ctr"/>
          <a:lstStyle/>
          <a:p>
            <a:pPr marL="0" indent="0" algn="r">
              <a:buNone/>
            </a:pPr>
            <a:r>
              <a:rPr lang="en-US" sz="1100" b="1" dirty="0">
                <a:solidFill>
                  <a:srgbClr val="0D1B2A"/>
                </a:solidFill>
                <a:latin typeface="Consolas" pitchFamily="34" charset="0"/>
                <a:ea typeface="Consolas" pitchFamily="34" charset="-122"/>
                <a:cs typeface="Consolas" pitchFamily="34" charset="-120"/>
              </a:rPr>
              <a:t>q₃  …  q₇</a:t>
            </a:r>
            <a:endParaRPr lang="en-US" sz="1100" dirty="0"/>
          </a:p>
        </p:txBody>
      </p:sp>
      <p:sp>
        <p:nvSpPr>
          <p:cNvPr id="7" name="Shape 5"/>
          <p:cNvSpPr/>
          <p:nvPr/>
        </p:nvSpPr>
        <p:spPr>
          <a:xfrm>
            <a:off x="1051560" y="1097280"/>
            <a:ext cx="7132320" cy="0"/>
          </a:xfrm>
          <a:prstGeom prst="line">
            <a:avLst/>
          </a:prstGeom>
          <a:noFill/>
          <a:ln w="19050">
            <a:solidFill>
              <a:srgbClr val="4A7FA5"/>
            </a:solidFill>
            <a:prstDash val="solid"/>
          </a:ln>
        </p:spPr>
        <p:txBody>
          <a:bodyPr/>
          <a:lstStyle/>
          <a:p>
            <a:endParaRPr lang="es-ES"/>
          </a:p>
        </p:txBody>
      </p:sp>
      <p:sp>
        <p:nvSpPr>
          <p:cNvPr id="8" name="Shape 6"/>
          <p:cNvSpPr/>
          <p:nvPr/>
        </p:nvSpPr>
        <p:spPr>
          <a:xfrm>
            <a:off x="1051560" y="1691640"/>
            <a:ext cx="7132320" cy="0"/>
          </a:xfrm>
          <a:prstGeom prst="line">
            <a:avLst/>
          </a:prstGeom>
          <a:noFill/>
          <a:ln w="19050">
            <a:solidFill>
              <a:srgbClr val="4A7FA5"/>
            </a:solidFill>
            <a:prstDash val="solid"/>
          </a:ln>
        </p:spPr>
        <p:txBody>
          <a:bodyPr/>
          <a:lstStyle/>
          <a:p>
            <a:endParaRPr lang="es-ES"/>
          </a:p>
        </p:txBody>
      </p:sp>
      <p:sp>
        <p:nvSpPr>
          <p:cNvPr id="9" name="Shape 7"/>
          <p:cNvSpPr/>
          <p:nvPr/>
        </p:nvSpPr>
        <p:spPr>
          <a:xfrm>
            <a:off x="1051560" y="2286000"/>
            <a:ext cx="7132320" cy="0"/>
          </a:xfrm>
          <a:prstGeom prst="line">
            <a:avLst/>
          </a:prstGeom>
          <a:noFill/>
          <a:ln w="19050">
            <a:solidFill>
              <a:srgbClr val="4A7FA5"/>
            </a:solidFill>
            <a:prstDash val="solid"/>
          </a:ln>
        </p:spPr>
        <p:txBody>
          <a:bodyPr/>
          <a:lstStyle/>
          <a:p>
            <a:endParaRPr lang="es-ES"/>
          </a:p>
        </p:txBody>
      </p:sp>
      <p:sp>
        <p:nvSpPr>
          <p:cNvPr id="10" name="Shape 8"/>
          <p:cNvSpPr/>
          <p:nvPr/>
        </p:nvSpPr>
        <p:spPr>
          <a:xfrm>
            <a:off x="1051560" y="2880360"/>
            <a:ext cx="7132320" cy="0"/>
          </a:xfrm>
          <a:prstGeom prst="line">
            <a:avLst/>
          </a:prstGeom>
          <a:noFill/>
          <a:ln w="19050">
            <a:solidFill>
              <a:srgbClr val="4A7FA5"/>
            </a:solidFill>
            <a:prstDash val="solid"/>
          </a:ln>
        </p:spPr>
        <p:txBody>
          <a:bodyPr/>
          <a:lstStyle/>
          <a:p>
            <a:endParaRPr lang="es-ES"/>
          </a:p>
        </p:txBody>
      </p:sp>
      <p:sp>
        <p:nvSpPr>
          <p:cNvPr id="11" name="Shape 9"/>
          <p:cNvSpPr/>
          <p:nvPr/>
        </p:nvSpPr>
        <p:spPr>
          <a:xfrm>
            <a:off x="1097280" y="987552"/>
            <a:ext cx="1005840" cy="2148840"/>
          </a:xfrm>
          <a:prstGeom prst="rect">
            <a:avLst/>
          </a:prstGeom>
          <a:solidFill>
            <a:srgbClr val="DDE8F0"/>
          </a:solidFill>
          <a:ln w="12700">
            <a:solidFill>
              <a:srgbClr val="4A7FA5"/>
            </a:solidFill>
            <a:prstDash val="solid"/>
          </a:ln>
        </p:spPr>
        <p:txBody>
          <a:bodyPr/>
          <a:lstStyle/>
          <a:p>
            <a:endParaRPr lang="es-ES"/>
          </a:p>
        </p:txBody>
      </p:sp>
      <p:sp>
        <p:nvSpPr>
          <p:cNvPr id="12" name="Text 10"/>
          <p:cNvSpPr/>
          <p:nvPr/>
        </p:nvSpPr>
        <p:spPr>
          <a:xfrm>
            <a:off x="1097280" y="987552"/>
            <a:ext cx="1005840" cy="21488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B_pre</a:t>
            </a:r>
            <a:endParaRPr lang="en-US" sz="1000" dirty="0"/>
          </a:p>
          <a:p>
            <a:pPr marL="0" indent="0" algn="ctr">
              <a:buNone/>
            </a:pPr>
            <a:r>
              <a:rPr lang="en-US" sz="1000" b="1" dirty="0">
                <a:solidFill>
                  <a:srgbClr val="0D1B2A"/>
                </a:solidFill>
                <a:latin typeface="Calibri" pitchFamily="34" charset="0"/>
                <a:ea typeface="Calibri" pitchFamily="34" charset="-122"/>
                <a:cs typeface="Calibri" pitchFamily="34" charset="-120"/>
              </a:rPr>
              <a:t>CZ</a:t>
            </a:r>
            <a:endParaRPr lang="en-US" sz="1000" dirty="0"/>
          </a:p>
          <a:p>
            <a:pPr marL="0" indent="0" algn="ctr">
              <a:buNone/>
            </a:pPr>
            <a:r>
              <a:rPr lang="en-US" sz="1000" b="1" dirty="0">
                <a:solidFill>
                  <a:srgbClr val="0D1B2A"/>
                </a:solidFill>
                <a:latin typeface="Calibri" pitchFamily="34" charset="0"/>
                <a:ea typeface="Calibri" pitchFamily="34" charset="-122"/>
                <a:cs typeface="Calibri" pitchFamily="34" charset="-120"/>
              </a:rPr>
              <a:t>fixed</a:t>
            </a:r>
            <a:endParaRPr lang="en-US" sz="1000" dirty="0"/>
          </a:p>
        </p:txBody>
      </p:sp>
      <p:sp>
        <p:nvSpPr>
          <p:cNvPr id="13" name="Shape 11"/>
          <p:cNvSpPr/>
          <p:nvPr/>
        </p:nvSpPr>
        <p:spPr>
          <a:xfrm>
            <a:off x="2331720" y="914400"/>
            <a:ext cx="914400" cy="365760"/>
          </a:xfrm>
          <a:prstGeom prst="rect">
            <a:avLst/>
          </a:prstGeom>
          <a:solidFill>
            <a:srgbClr val="0A9396"/>
          </a:solidFill>
          <a:ln w="12700">
            <a:solidFill>
              <a:srgbClr val="0A9396"/>
            </a:solidFill>
            <a:prstDash val="solid"/>
          </a:ln>
        </p:spPr>
        <p:txBody>
          <a:bodyPr/>
          <a:lstStyle/>
          <a:p>
            <a:endParaRPr lang="es-ES"/>
          </a:p>
        </p:txBody>
      </p:sp>
      <p:sp>
        <p:nvSpPr>
          <p:cNvPr id="14" name="Text 12"/>
          <p:cNvSpPr/>
          <p:nvPr/>
        </p:nvSpPr>
        <p:spPr>
          <a:xfrm>
            <a:off x="2331720" y="914400"/>
            <a:ext cx="914400"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Rot(θ+wx)</a:t>
            </a:r>
            <a:endParaRPr lang="en-US" sz="800" dirty="0"/>
          </a:p>
        </p:txBody>
      </p:sp>
      <p:sp>
        <p:nvSpPr>
          <p:cNvPr id="15" name="Shape 13"/>
          <p:cNvSpPr/>
          <p:nvPr/>
        </p:nvSpPr>
        <p:spPr>
          <a:xfrm>
            <a:off x="2331720" y="1508760"/>
            <a:ext cx="914400" cy="365760"/>
          </a:xfrm>
          <a:prstGeom prst="rect">
            <a:avLst/>
          </a:prstGeom>
          <a:solidFill>
            <a:srgbClr val="0A9396"/>
          </a:solidFill>
          <a:ln w="12700">
            <a:solidFill>
              <a:srgbClr val="0A9396"/>
            </a:solidFill>
            <a:prstDash val="solid"/>
          </a:ln>
        </p:spPr>
        <p:txBody>
          <a:bodyPr/>
          <a:lstStyle/>
          <a:p>
            <a:endParaRPr lang="es-ES"/>
          </a:p>
        </p:txBody>
      </p:sp>
      <p:sp>
        <p:nvSpPr>
          <p:cNvPr id="16" name="Text 14"/>
          <p:cNvSpPr/>
          <p:nvPr/>
        </p:nvSpPr>
        <p:spPr>
          <a:xfrm>
            <a:off x="2331720" y="1508760"/>
            <a:ext cx="914400"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Rot(θ+wx)</a:t>
            </a:r>
            <a:endParaRPr lang="en-US" sz="800" dirty="0"/>
          </a:p>
        </p:txBody>
      </p:sp>
      <p:sp>
        <p:nvSpPr>
          <p:cNvPr id="17" name="Shape 15"/>
          <p:cNvSpPr/>
          <p:nvPr/>
        </p:nvSpPr>
        <p:spPr>
          <a:xfrm>
            <a:off x="2331720" y="2103120"/>
            <a:ext cx="914400" cy="365760"/>
          </a:xfrm>
          <a:prstGeom prst="rect">
            <a:avLst/>
          </a:prstGeom>
          <a:solidFill>
            <a:srgbClr val="0A9396"/>
          </a:solidFill>
          <a:ln w="12700">
            <a:solidFill>
              <a:srgbClr val="0A9396"/>
            </a:solidFill>
            <a:prstDash val="solid"/>
          </a:ln>
        </p:spPr>
        <p:txBody>
          <a:bodyPr/>
          <a:lstStyle/>
          <a:p>
            <a:endParaRPr lang="es-ES"/>
          </a:p>
        </p:txBody>
      </p:sp>
      <p:sp>
        <p:nvSpPr>
          <p:cNvPr id="18" name="Text 16"/>
          <p:cNvSpPr/>
          <p:nvPr/>
        </p:nvSpPr>
        <p:spPr>
          <a:xfrm>
            <a:off x="2331720" y="2103120"/>
            <a:ext cx="914400"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Rot(θ+wx)</a:t>
            </a:r>
            <a:endParaRPr lang="en-US" sz="800" dirty="0"/>
          </a:p>
        </p:txBody>
      </p:sp>
      <p:sp>
        <p:nvSpPr>
          <p:cNvPr id="19" name="Shape 17"/>
          <p:cNvSpPr/>
          <p:nvPr/>
        </p:nvSpPr>
        <p:spPr>
          <a:xfrm>
            <a:off x="2331720" y="2697480"/>
            <a:ext cx="914400" cy="365760"/>
          </a:xfrm>
          <a:prstGeom prst="rect">
            <a:avLst/>
          </a:prstGeom>
          <a:solidFill>
            <a:srgbClr val="0A9396"/>
          </a:solidFill>
          <a:ln w="12700">
            <a:solidFill>
              <a:srgbClr val="0A9396"/>
            </a:solidFill>
            <a:prstDash val="solid"/>
          </a:ln>
        </p:spPr>
        <p:txBody>
          <a:bodyPr/>
          <a:lstStyle/>
          <a:p>
            <a:endParaRPr lang="es-ES"/>
          </a:p>
        </p:txBody>
      </p:sp>
      <p:sp>
        <p:nvSpPr>
          <p:cNvPr id="20" name="Text 18"/>
          <p:cNvSpPr/>
          <p:nvPr/>
        </p:nvSpPr>
        <p:spPr>
          <a:xfrm>
            <a:off x="2331720" y="2697480"/>
            <a:ext cx="914400"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Rot(θ+wx)</a:t>
            </a:r>
            <a:endParaRPr lang="en-US" sz="800" dirty="0"/>
          </a:p>
        </p:txBody>
      </p:sp>
      <p:sp>
        <p:nvSpPr>
          <p:cNvPr id="21" name="Shape 19"/>
          <p:cNvSpPr/>
          <p:nvPr/>
        </p:nvSpPr>
        <p:spPr>
          <a:xfrm>
            <a:off x="4160520" y="914400"/>
            <a:ext cx="914400" cy="365760"/>
          </a:xfrm>
          <a:prstGeom prst="rect">
            <a:avLst/>
          </a:prstGeom>
          <a:solidFill>
            <a:srgbClr val="0A9396"/>
          </a:solidFill>
          <a:ln w="12700">
            <a:solidFill>
              <a:srgbClr val="0A9396"/>
            </a:solidFill>
            <a:prstDash val="solid"/>
          </a:ln>
        </p:spPr>
        <p:txBody>
          <a:bodyPr/>
          <a:lstStyle/>
          <a:p>
            <a:endParaRPr lang="es-ES"/>
          </a:p>
        </p:txBody>
      </p:sp>
      <p:sp>
        <p:nvSpPr>
          <p:cNvPr id="22" name="Text 20"/>
          <p:cNvSpPr/>
          <p:nvPr/>
        </p:nvSpPr>
        <p:spPr>
          <a:xfrm>
            <a:off x="4160520" y="914400"/>
            <a:ext cx="914400"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Rot(θ+wx)</a:t>
            </a:r>
            <a:endParaRPr lang="en-US" sz="800" dirty="0"/>
          </a:p>
        </p:txBody>
      </p:sp>
      <p:sp>
        <p:nvSpPr>
          <p:cNvPr id="23" name="Shape 21"/>
          <p:cNvSpPr/>
          <p:nvPr/>
        </p:nvSpPr>
        <p:spPr>
          <a:xfrm>
            <a:off x="4160520" y="1508760"/>
            <a:ext cx="914400" cy="365760"/>
          </a:xfrm>
          <a:prstGeom prst="rect">
            <a:avLst/>
          </a:prstGeom>
          <a:solidFill>
            <a:srgbClr val="0A9396"/>
          </a:solidFill>
          <a:ln w="12700">
            <a:solidFill>
              <a:srgbClr val="0A9396"/>
            </a:solidFill>
            <a:prstDash val="solid"/>
          </a:ln>
        </p:spPr>
        <p:txBody>
          <a:bodyPr/>
          <a:lstStyle/>
          <a:p>
            <a:endParaRPr lang="es-ES"/>
          </a:p>
        </p:txBody>
      </p:sp>
      <p:sp>
        <p:nvSpPr>
          <p:cNvPr id="24" name="Text 22"/>
          <p:cNvSpPr/>
          <p:nvPr/>
        </p:nvSpPr>
        <p:spPr>
          <a:xfrm>
            <a:off x="4160520" y="1508760"/>
            <a:ext cx="914400"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Rot(θ+wx)</a:t>
            </a:r>
            <a:endParaRPr lang="en-US" sz="800" dirty="0"/>
          </a:p>
        </p:txBody>
      </p:sp>
      <p:sp>
        <p:nvSpPr>
          <p:cNvPr id="25" name="Shape 23"/>
          <p:cNvSpPr/>
          <p:nvPr/>
        </p:nvSpPr>
        <p:spPr>
          <a:xfrm>
            <a:off x="4160520" y="2103120"/>
            <a:ext cx="914400" cy="365760"/>
          </a:xfrm>
          <a:prstGeom prst="rect">
            <a:avLst/>
          </a:prstGeom>
          <a:solidFill>
            <a:srgbClr val="0A9396"/>
          </a:solidFill>
          <a:ln w="12700">
            <a:solidFill>
              <a:srgbClr val="0A9396"/>
            </a:solidFill>
            <a:prstDash val="solid"/>
          </a:ln>
        </p:spPr>
        <p:txBody>
          <a:bodyPr/>
          <a:lstStyle/>
          <a:p>
            <a:endParaRPr lang="es-ES"/>
          </a:p>
        </p:txBody>
      </p:sp>
      <p:sp>
        <p:nvSpPr>
          <p:cNvPr id="26" name="Text 24"/>
          <p:cNvSpPr/>
          <p:nvPr/>
        </p:nvSpPr>
        <p:spPr>
          <a:xfrm>
            <a:off x="4160520" y="2103120"/>
            <a:ext cx="914400"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Rot(θ+wx)</a:t>
            </a:r>
            <a:endParaRPr lang="en-US" sz="800" dirty="0"/>
          </a:p>
        </p:txBody>
      </p:sp>
      <p:sp>
        <p:nvSpPr>
          <p:cNvPr id="27" name="Shape 25"/>
          <p:cNvSpPr/>
          <p:nvPr/>
        </p:nvSpPr>
        <p:spPr>
          <a:xfrm>
            <a:off x="4160520" y="2697480"/>
            <a:ext cx="914400" cy="365760"/>
          </a:xfrm>
          <a:prstGeom prst="rect">
            <a:avLst/>
          </a:prstGeom>
          <a:solidFill>
            <a:srgbClr val="0A9396"/>
          </a:solidFill>
          <a:ln w="12700">
            <a:solidFill>
              <a:srgbClr val="0A9396"/>
            </a:solidFill>
            <a:prstDash val="solid"/>
          </a:ln>
        </p:spPr>
        <p:txBody>
          <a:bodyPr/>
          <a:lstStyle/>
          <a:p>
            <a:endParaRPr lang="es-ES"/>
          </a:p>
        </p:txBody>
      </p:sp>
      <p:sp>
        <p:nvSpPr>
          <p:cNvPr id="28" name="Text 26"/>
          <p:cNvSpPr/>
          <p:nvPr/>
        </p:nvSpPr>
        <p:spPr>
          <a:xfrm>
            <a:off x="4160520" y="2697480"/>
            <a:ext cx="914400"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Rot(θ+wx)</a:t>
            </a:r>
            <a:endParaRPr lang="en-US" sz="800" dirty="0"/>
          </a:p>
        </p:txBody>
      </p:sp>
      <p:sp>
        <p:nvSpPr>
          <p:cNvPr id="29" name="Shape 27"/>
          <p:cNvSpPr/>
          <p:nvPr/>
        </p:nvSpPr>
        <p:spPr>
          <a:xfrm>
            <a:off x="5989320" y="914400"/>
            <a:ext cx="914400" cy="365760"/>
          </a:xfrm>
          <a:prstGeom prst="rect">
            <a:avLst/>
          </a:prstGeom>
          <a:solidFill>
            <a:srgbClr val="0A9396"/>
          </a:solidFill>
          <a:ln w="12700">
            <a:solidFill>
              <a:srgbClr val="0A9396"/>
            </a:solidFill>
            <a:prstDash val="solid"/>
          </a:ln>
        </p:spPr>
        <p:txBody>
          <a:bodyPr/>
          <a:lstStyle/>
          <a:p>
            <a:endParaRPr lang="es-ES"/>
          </a:p>
        </p:txBody>
      </p:sp>
      <p:sp>
        <p:nvSpPr>
          <p:cNvPr id="30" name="Text 28"/>
          <p:cNvSpPr/>
          <p:nvPr/>
        </p:nvSpPr>
        <p:spPr>
          <a:xfrm>
            <a:off x="5989320" y="914400"/>
            <a:ext cx="914400"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Rot(θ+wx)</a:t>
            </a:r>
            <a:endParaRPr lang="en-US" sz="800" dirty="0"/>
          </a:p>
        </p:txBody>
      </p:sp>
      <p:sp>
        <p:nvSpPr>
          <p:cNvPr id="31" name="Shape 29"/>
          <p:cNvSpPr/>
          <p:nvPr/>
        </p:nvSpPr>
        <p:spPr>
          <a:xfrm>
            <a:off x="5989320" y="1508760"/>
            <a:ext cx="914400" cy="365760"/>
          </a:xfrm>
          <a:prstGeom prst="rect">
            <a:avLst/>
          </a:prstGeom>
          <a:solidFill>
            <a:srgbClr val="0A9396"/>
          </a:solidFill>
          <a:ln w="12700">
            <a:solidFill>
              <a:srgbClr val="0A9396"/>
            </a:solidFill>
            <a:prstDash val="solid"/>
          </a:ln>
        </p:spPr>
        <p:txBody>
          <a:bodyPr/>
          <a:lstStyle/>
          <a:p>
            <a:endParaRPr lang="es-ES"/>
          </a:p>
        </p:txBody>
      </p:sp>
      <p:sp>
        <p:nvSpPr>
          <p:cNvPr id="32" name="Text 30"/>
          <p:cNvSpPr/>
          <p:nvPr/>
        </p:nvSpPr>
        <p:spPr>
          <a:xfrm>
            <a:off x="5989320" y="1508760"/>
            <a:ext cx="914400"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Rot(θ+wx)</a:t>
            </a:r>
            <a:endParaRPr lang="en-US" sz="800" dirty="0"/>
          </a:p>
        </p:txBody>
      </p:sp>
      <p:sp>
        <p:nvSpPr>
          <p:cNvPr id="33" name="Shape 31"/>
          <p:cNvSpPr/>
          <p:nvPr/>
        </p:nvSpPr>
        <p:spPr>
          <a:xfrm>
            <a:off x="5989320" y="2103120"/>
            <a:ext cx="914400" cy="365760"/>
          </a:xfrm>
          <a:prstGeom prst="rect">
            <a:avLst/>
          </a:prstGeom>
          <a:solidFill>
            <a:srgbClr val="0A9396"/>
          </a:solidFill>
          <a:ln w="12700">
            <a:solidFill>
              <a:srgbClr val="0A9396"/>
            </a:solidFill>
            <a:prstDash val="solid"/>
          </a:ln>
        </p:spPr>
        <p:txBody>
          <a:bodyPr/>
          <a:lstStyle/>
          <a:p>
            <a:endParaRPr lang="es-ES"/>
          </a:p>
        </p:txBody>
      </p:sp>
      <p:sp>
        <p:nvSpPr>
          <p:cNvPr id="34" name="Text 32"/>
          <p:cNvSpPr/>
          <p:nvPr/>
        </p:nvSpPr>
        <p:spPr>
          <a:xfrm>
            <a:off x="5989320" y="2103120"/>
            <a:ext cx="914400"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Rot(θ+wx)</a:t>
            </a:r>
            <a:endParaRPr lang="en-US" sz="800" dirty="0"/>
          </a:p>
        </p:txBody>
      </p:sp>
      <p:sp>
        <p:nvSpPr>
          <p:cNvPr id="35" name="Shape 33"/>
          <p:cNvSpPr/>
          <p:nvPr/>
        </p:nvSpPr>
        <p:spPr>
          <a:xfrm>
            <a:off x="5989320" y="2697480"/>
            <a:ext cx="914400" cy="365760"/>
          </a:xfrm>
          <a:prstGeom prst="rect">
            <a:avLst/>
          </a:prstGeom>
          <a:solidFill>
            <a:srgbClr val="0A9396"/>
          </a:solidFill>
          <a:ln w="12700">
            <a:solidFill>
              <a:srgbClr val="0A9396"/>
            </a:solidFill>
            <a:prstDash val="solid"/>
          </a:ln>
        </p:spPr>
        <p:txBody>
          <a:bodyPr/>
          <a:lstStyle/>
          <a:p>
            <a:endParaRPr lang="es-ES"/>
          </a:p>
        </p:txBody>
      </p:sp>
      <p:sp>
        <p:nvSpPr>
          <p:cNvPr id="36" name="Text 34"/>
          <p:cNvSpPr/>
          <p:nvPr/>
        </p:nvSpPr>
        <p:spPr>
          <a:xfrm>
            <a:off x="5989320" y="2697480"/>
            <a:ext cx="914400"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Rot(θ+wx)</a:t>
            </a:r>
            <a:endParaRPr lang="en-US" sz="800" dirty="0"/>
          </a:p>
        </p:txBody>
      </p:sp>
      <p:sp>
        <p:nvSpPr>
          <p:cNvPr id="37" name="Shape 35"/>
          <p:cNvSpPr/>
          <p:nvPr/>
        </p:nvSpPr>
        <p:spPr>
          <a:xfrm>
            <a:off x="3383280" y="987552"/>
            <a:ext cx="640080" cy="2148840"/>
          </a:xfrm>
          <a:prstGeom prst="rect">
            <a:avLst/>
          </a:prstGeom>
          <a:solidFill>
            <a:srgbClr val="DDE8F0"/>
          </a:solidFill>
          <a:ln w="12700">
            <a:solidFill>
              <a:srgbClr val="4A7FA5"/>
            </a:solidFill>
            <a:prstDash val="solid"/>
          </a:ln>
        </p:spPr>
        <p:txBody>
          <a:bodyPr/>
          <a:lstStyle/>
          <a:p>
            <a:endParaRPr lang="es-ES"/>
          </a:p>
        </p:txBody>
      </p:sp>
      <p:sp>
        <p:nvSpPr>
          <p:cNvPr id="38" name="Text 36"/>
          <p:cNvSpPr/>
          <p:nvPr/>
        </p:nvSpPr>
        <p:spPr>
          <a:xfrm>
            <a:off x="3383280" y="987552"/>
            <a:ext cx="640080" cy="21488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CZ</a:t>
            </a:r>
            <a:endParaRPr lang="en-US" sz="1000" dirty="0"/>
          </a:p>
        </p:txBody>
      </p:sp>
      <p:sp>
        <p:nvSpPr>
          <p:cNvPr id="39" name="Shape 37"/>
          <p:cNvSpPr/>
          <p:nvPr/>
        </p:nvSpPr>
        <p:spPr>
          <a:xfrm>
            <a:off x="5212080" y="987552"/>
            <a:ext cx="640080" cy="2148840"/>
          </a:xfrm>
          <a:prstGeom prst="rect">
            <a:avLst/>
          </a:prstGeom>
          <a:solidFill>
            <a:srgbClr val="DDE8F0"/>
          </a:solidFill>
          <a:ln w="12700">
            <a:solidFill>
              <a:srgbClr val="4A7FA5"/>
            </a:solidFill>
            <a:prstDash val="solid"/>
          </a:ln>
        </p:spPr>
        <p:txBody>
          <a:bodyPr/>
          <a:lstStyle/>
          <a:p>
            <a:endParaRPr lang="es-ES"/>
          </a:p>
        </p:txBody>
      </p:sp>
      <p:sp>
        <p:nvSpPr>
          <p:cNvPr id="40" name="Text 38"/>
          <p:cNvSpPr/>
          <p:nvPr/>
        </p:nvSpPr>
        <p:spPr>
          <a:xfrm>
            <a:off x="5212080" y="987552"/>
            <a:ext cx="640080" cy="214884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CZ</a:t>
            </a:r>
            <a:endParaRPr lang="en-US" sz="1000" dirty="0"/>
          </a:p>
        </p:txBody>
      </p:sp>
      <p:sp>
        <p:nvSpPr>
          <p:cNvPr id="41" name="Shape 39"/>
          <p:cNvSpPr/>
          <p:nvPr/>
        </p:nvSpPr>
        <p:spPr>
          <a:xfrm>
            <a:off x="7040880" y="914400"/>
            <a:ext cx="365760" cy="365760"/>
          </a:xfrm>
          <a:prstGeom prst="ellipse">
            <a:avLst/>
          </a:prstGeom>
          <a:solidFill>
            <a:srgbClr val="EE9B00"/>
          </a:solidFill>
          <a:ln w="12700">
            <a:solidFill>
              <a:srgbClr val="EE9B00"/>
            </a:solidFill>
            <a:prstDash val="solid"/>
          </a:ln>
        </p:spPr>
        <p:txBody>
          <a:bodyPr/>
          <a:lstStyle/>
          <a:p>
            <a:endParaRPr lang="es-ES"/>
          </a:p>
        </p:txBody>
      </p:sp>
      <p:sp>
        <p:nvSpPr>
          <p:cNvPr id="42" name="Text 40"/>
          <p:cNvSpPr/>
          <p:nvPr/>
        </p:nvSpPr>
        <p:spPr>
          <a:xfrm>
            <a:off x="7040880" y="914400"/>
            <a:ext cx="365760" cy="365760"/>
          </a:xfrm>
          <a:prstGeom prst="rect">
            <a:avLst/>
          </a:prstGeom>
          <a:noFill/>
          <a:ln/>
        </p:spPr>
        <p:txBody>
          <a:bodyPr wrap="square" lIns="0" tIns="0" rIns="0" bIns="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⟨Z₀⟩</a:t>
            </a:r>
            <a:endParaRPr lang="en-US" sz="900" dirty="0"/>
          </a:p>
        </p:txBody>
      </p:sp>
      <p:sp>
        <p:nvSpPr>
          <p:cNvPr id="43" name="Text 41"/>
          <p:cNvSpPr/>
          <p:nvPr/>
        </p:nvSpPr>
        <p:spPr>
          <a:xfrm>
            <a:off x="1051560" y="3218688"/>
            <a:ext cx="1143000" cy="320040"/>
          </a:xfrm>
          <a:prstGeom prst="rect">
            <a:avLst/>
          </a:prstGeom>
          <a:noFill/>
          <a:ln/>
        </p:spPr>
        <p:txBody>
          <a:bodyPr wrap="square" lIns="0" tIns="0" rIns="0" bIns="0" rtlCol="0" anchor="ctr"/>
          <a:lstStyle/>
          <a:p>
            <a:pPr marL="0" indent="0" algn="ctr">
              <a:buNone/>
            </a:pPr>
            <a:r>
              <a:rPr lang="en-US" sz="900" dirty="0">
                <a:solidFill>
                  <a:srgbClr val="0D1B2A"/>
                </a:solidFill>
                <a:latin typeface="Calibri" pitchFamily="34" charset="0"/>
                <a:ea typeface="Calibri" pitchFamily="34" charset="-122"/>
                <a:cs typeface="Calibri" pitchFamily="34" charset="-120"/>
              </a:rPr>
              <a:t>Fixed CZ preamble</a:t>
            </a:r>
            <a:endParaRPr lang="en-US" sz="900" dirty="0"/>
          </a:p>
        </p:txBody>
      </p:sp>
      <p:sp>
        <p:nvSpPr>
          <p:cNvPr id="44" name="Text 42"/>
          <p:cNvSpPr/>
          <p:nvPr/>
        </p:nvSpPr>
        <p:spPr>
          <a:xfrm>
            <a:off x="2194560" y="3218688"/>
            <a:ext cx="1417320" cy="320040"/>
          </a:xfrm>
          <a:prstGeom prst="rect">
            <a:avLst/>
          </a:prstGeom>
          <a:noFill/>
          <a:ln/>
        </p:spPr>
        <p:txBody>
          <a:bodyPr wrap="square" lIns="0" tIns="0" rIns="0" bIns="0" rtlCol="0" anchor="ctr"/>
          <a:lstStyle/>
          <a:p>
            <a:pPr marL="0" indent="0" algn="ctr">
              <a:buNone/>
            </a:pPr>
            <a:r>
              <a:rPr lang="en-US" sz="900" b="1" dirty="0">
                <a:solidFill>
                  <a:srgbClr val="0A9396"/>
                </a:solidFill>
                <a:latin typeface="Calibri" pitchFamily="34" charset="0"/>
                <a:ea typeface="Calibri" pitchFamily="34" charset="-122"/>
                <a:cs typeface="Calibri" pitchFamily="34" charset="-120"/>
              </a:rPr>
              <a:t>← DRU Layer 1 →</a:t>
            </a:r>
            <a:endParaRPr lang="en-US" sz="900" dirty="0"/>
          </a:p>
        </p:txBody>
      </p:sp>
      <p:sp>
        <p:nvSpPr>
          <p:cNvPr id="45" name="Text 43"/>
          <p:cNvSpPr/>
          <p:nvPr/>
        </p:nvSpPr>
        <p:spPr>
          <a:xfrm>
            <a:off x="3977640" y="3218688"/>
            <a:ext cx="1417320" cy="320040"/>
          </a:xfrm>
          <a:prstGeom prst="rect">
            <a:avLst/>
          </a:prstGeom>
          <a:noFill/>
          <a:ln/>
        </p:spPr>
        <p:txBody>
          <a:bodyPr wrap="square" lIns="0" tIns="0" rIns="0" bIns="0" rtlCol="0" anchor="ctr"/>
          <a:lstStyle/>
          <a:p>
            <a:pPr marL="0" indent="0" algn="ctr">
              <a:buNone/>
            </a:pPr>
            <a:r>
              <a:rPr lang="en-US" sz="900" b="1" dirty="0">
                <a:solidFill>
                  <a:srgbClr val="0A9396"/>
                </a:solidFill>
                <a:latin typeface="Calibri" pitchFamily="34" charset="0"/>
                <a:ea typeface="Calibri" pitchFamily="34" charset="-122"/>
                <a:cs typeface="Calibri" pitchFamily="34" charset="-120"/>
              </a:rPr>
              <a:t>← DRU Layer 2 →</a:t>
            </a:r>
            <a:endParaRPr lang="en-US" sz="900" dirty="0"/>
          </a:p>
        </p:txBody>
      </p:sp>
      <p:sp>
        <p:nvSpPr>
          <p:cNvPr id="46" name="Text 44"/>
          <p:cNvSpPr/>
          <p:nvPr/>
        </p:nvSpPr>
        <p:spPr>
          <a:xfrm>
            <a:off x="5806440" y="3218688"/>
            <a:ext cx="1417320" cy="320040"/>
          </a:xfrm>
          <a:prstGeom prst="rect">
            <a:avLst/>
          </a:prstGeom>
          <a:noFill/>
          <a:ln/>
        </p:spPr>
        <p:txBody>
          <a:bodyPr wrap="square" lIns="0" tIns="0" rIns="0" bIns="0" rtlCol="0" anchor="ctr"/>
          <a:lstStyle/>
          <a:p>
            <a:pPr marL="0" indent="0" algn="ctr">
              <a:buNone/>
            </a:pPr>
            <a:r>
              <a:rPr lang="en-US" sz="900" b="1" dirty="0">
                <a:solidFill>
                  <a:srgbClr val="0A9396"/>
                </a:solidFill>
                <a:latin typeface="Calibri" pitchFamily="34" charset="0"/>
                <a:ea typeface="Calibri" pitchFamily="34" charset="-122"/>
                <a:cs typeface="Calibri" pitchFamily="34" charset="-120"/>
              </a:rPr>
              <a:t>← DRU Layer 3 →</a:t>
            </a:r>
            <a:endParaRPr lang="en-US" sz="900" dirty="0"/>
          </a:p>
        </p:txBody>
      </p:sp>
      <p:sp>
        <p:nvSpPr>
          <p:cNvPr id="47" name="Shape 45"/>
          <p:cNvSpPr/>
          <p:nvPr/>
        </p:nvSpPr>
        <p:spPr>
          <a:xfrm>
            <a:off x="384048" y="3639312"/>
            <a:ext cx="8339328" cy="502920"/>
          </a:xfrm>
          <a:prstGeom prst="rect">
            <a:avLst/>
          </a:prstGeom>
          <a:solidFill>
            <a:srgbClr val="1B2D3F"/>
          </a:solidFill>
          <a:ln w="12700">
            <a:solidFill>
              <a:srgbClr val="0A9396"/>
            </a:solidFill>
            <a:prstDash val="solid"/>
          </a:ln>
        </p:spPr>
        <p:txBody>
          <a:bodyPr/>
          <a:lstStyle/>
          <a:p>
            <a:endParaRPr lang="es-ES"/>
          </a:p>
        </p:txBody>
      </p:sp>
      <p:sp>
        <p:nvSpPr>
          <p:cNvPr id="48" name="Text 46"/>
          <p:cNvSpPr/>
          <p:nvPr/>
        </p:nvSpPr>
        <p:spPr>
          <a:xfrm>
            <a:off x="384048" y="3639312"/>
            <a:ext cx="8339328" cy="502920"/>
          </a:xfrm>
          <a:prstGeom prst="rect">
            <a:avLst/>
          </a:prstGeom>
          <a:noFill/>
          <a:ln/>
        </p:spPr>
        <p:txBody>
          <a:bodyPr wrap="square" lIns="0" tIns="0" rIns="0" bIns="0" rtlCol="0" anchor="ctr"/>
          <a:lstStyle/>
          <a:p>
            <a:pPr marL="0" indent="0" algn="ctr">
              <a:buNone/>
            </a:pPr>
            <a:r>
              <a:rPr lang="en-US" sz="1400" b="1" dirty="0">
                <a:solidFill>
                  <a:srgbClr val="94D2BD"/>
                </a:solidFill>
                <a:latin typeface="Consolas" pitchFamily="34" charset="0"/>
                <a:ea typeface="Consolas" pitchFamily="34" charset="-122"/>
                <a:cs typeface="Consolas" pitchFamily="34" charset="-120"/>
              </a:rPr>
              <a:t>Classical affine head:  V(s) = a · ⟨Z₀⟩ + b      (a, b ∈ ℝ, trainable)</a:t>
            </a:r>
            <a:endParaRPr lang="en-US" sz="1400" dirty="0"/>
          </a:p>
        </p:txBody>
      </p:sp>
      <p:sp>
        <p:nvSpPr>
          <p:cNvPr id="49" name="Shape 47"/>
          <p:cNvSpPr/>
          <p:nvPr/>
        </p:nvSpPr>
        <p:spPr>
          <a:xfrm>
            <a:off x="6675120" y="4315968"/>
            <a:ext cx="2057400" cy="502920"/>
          </a:xfrm>
          <a:prstGeom prst="roundRect">
            <a:avLst>
              <a:gd name="adj" fmla="val 14545"/>
            </a:avLst>
          </a:prstGeom>
          <a:solidFill>
            <a:srgbClr val="EE9B00"/>
          </a:solidFill>
          <a:ln w="12700">
            <a:solidFill>
              <a:srgbClr val="EE9B00"/>
            </a:solidFill>
            <a:prstDash val="solid"/>
          </a:ln>
        </p:spPr>
        <p:txBody>
          <a:bodyPr/>
          <a:lstStyle/>
          <a:p>
            <a:endParaRPr lang="es-ES"/>
          </a:p>
        </p:txBody>
      </p:sp>
      <p:sp>
        <p:nvSpPr>
          <p:cNvPr id="50" name="Text 48"/>
          <p:cNvSpPr/>
          <p:nvPr/>
        </p:nvSpPr>
        <p:spPr>
          <a:xfrm>
            <a:off x="6675120" y="4315968"/>
            <a:ext cx="2057400" cy="502920"/>
          </a:xfrm>
          <a:prstGeom prst="rect">
            <a:avLst/>
          </a:prstGeom>
          <a:noFill/>
          <a:ln/>
        </p:spPr>
        <p:txBody>
          <a:bodyPr wrap="square" lIns="0" tIns="0" rIns="0" bIns="0" rtlCol="0" anchor="ctr"/>
          <a:lstStyle/>
          <a:p>
            <a:pPr marL="0" indent="0" algn="ctr">
              <a:buNone/>
            </a:pPr>
            <a:r>
              <a:rPr lang="en-US" sz="950" b="1" dirty="0">
                <a:solidFill>
                  <a:srgbClr val="0D1B2A"/>
                </a:solidFill>
                <a:latin typeface="Calibri" pitchFamily="34" charset="0"/>
                <a:ea typeface="Calibri" pitchFamily="34" charset="-122"/>
                <a:cs typeface="Calibri" pitchFamily="34" charset="-120"/>
              </a:rPr>
              <a:t>144 quantum params + 2 head = 146</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State Encoding &amp; Weight Initialisation</a:t>
            </a:r>
            <a:endParaRPr lang="en-US" sz="3200" dirty="0"/>
          </a:p>
        </p:txBody>
      </p:sp>
      <p:sp>
        <p:nvSpPr>
          <p:cNvPr id="3" name="Text 1"/>
          <p:cNvSpPr/>
          <p:nvPr/>
        </p:nvSpPr>
        <p:spPr>
          <a:xfrm>
            <a:off x="457200" y="1078992"/>
            <a:ext cx="4023360" cy="347472"/>
          </a:xfrm>
          <a:prstGeom prst="rect">
            <a:avLst/>
          </a:prstGeom>
          <a:noFill/>
          <a:ln/>
        </p:spPr>
        <p:txBody>
          <a:bodyPr wrap="square" lIns="0" tIns="0" rIns="0" bIns="0" rtlCol="0" anchor="ctr"/>
          <a:lstStyle/>
          <a:p>
            <a:pPr marL="0" indent="0">
              <a:buNone/>
            </a:pPr>
            <a:r>
              <a:rPr lang="en-US" sz="1700" b="1" dirty="0">
                <a:solidFill>
                  <a:srgbClr val="94D2BD"/>
                </a:solidFill>
                <a:latin typeface="Calibri" pitchFamily="34" charset="0"/>
                <a:ea typeface="Calibri" pitchFamily="34" charset="-122"/>
                <a:cs typeface="Calibri" pitchFamily="34" charset="-120"/>
              </a:rPr>
              <a:t>Arctan Encoding (Eq. 4)</a:t>
            </a:r>
            <a:endParaRPr lang="en-US" sz="1700" dirty="0"/>
          </a:p>
        </p:txBody>
      </p:sp>
      <p:sp>
        <p:nvSpPr>
          <p:cNvPr id="4" name="Shape 2"/>
          <p:cNvSpPr/>
          <p:nvPr/>
        </p:nvSpPr>
        <p:spPr>
          <a:xfrm>
            <a:off x="457200" y="1481328"/>
            <a:ext cx="4023360" cy="1005840"/>
          </a:xfrm>
          <a:prstGeom prst="rect">
            <a:avLst/>
          </a:prstGeom>
          <a:solidFill>
            <a:srgbClr val="132232"/>
          </a:solidFill>
          <a:ln w="12700">
            <a:solidFill>
              <a:srgbClr val="0A9396"/>
            </a:solidFill>
            <a:prstDash val="solid"/>
          </a:ln>
        </p:spPr>
        <p:txBody>
          <a:bodyPr/>
          <a:lstStyle/>
          <a:p>
            <a:endParaRPr lang="es-ES"/>
          </a:p>
        </p:txBody>
      </p:sp>
      <p:sp>
        <p:nvSpPr>
          <p:cNvPr id="5" name="Text 3"/>
          <p:cNvSpPr/>
          <p:nvPr/>
        </p:nvSpPr>
        <p:spPr>
          <a:xfrm>
            <a:off x="457200" y="1481328"/>
            <a:ext cx="4023360" cy="1005840"/>
          </a:xfrm>
          <a:prstGeom prst="rect">
            <a:avLst/>
          </a:prstGeom>
          <a:noFill/>
          <a:ln/>
        </p:spPr>
        <p:txBody>
          <a:bodyPr wrap="square" lIns="0" tIns="0" rIns="0" bIns="0" rtlCol="0" anchor="ctr"/>
          <a:lstStyle/>
          <a:p>
            <a:pPr marL="0" indent="0" algn="ctr">
              <a:buNone/>
            </a:pPr>
            <a:r>
              <a:rPr lang="en-US" sz="1400" dirty="0">
                <a:solidFill>
                  <a:srgbClr val="94D2BD"/>
                </a:solidFill>
                <a:latin typeface="Consolas" pitchFamily="34" charset="0"/>
                <a:ea typeface="Consolas" pitchFamily="34" charset="-122"/>
                <a:cs typeface="Consolas" pitchFamily="34" charset="-120"/>
              </a:rPr>
              <a:t>xs = arctan( (s − μ_D) / σ_D )</a:t>
            </a:r>
            <a:endParaRPr lang="en-US" sz="1400" dirty="0"/>
          </a:p>
          <a:p>
            <a:pPr marL="0" indent="0" algn="ctr">
              <a:buNone/>
            </a:pPr>
            <a:endParaRPr lang="en-US" sz="1400" dirty="0"/>
          </a:p>
          <a:p>
            <a:pPr marL="0" indent="0" algn="ctr">
              <a:buNone/>
            </a:pPr>
            <a:r>
              <a:rPr lang="en-US" sz="1400" dirty="0">
                <a:solidFill>
                  <a:srgbClr val="94D2BD"/>
                </a:solidFill>
                <a:latin typeface="Consolas" pitchFamily="34" charset="0"/>
                <a:ea typeface="Consolas" pitchFamily="34" charset="-122"/>
                <a:cs typeface="Consolas" pitchFamily="34" charset="-120"/>
              </a:rPr>
              <a:t>xs ∈ (−π/2,  +π/2)  for all s</a:t>
            </a:r>
            <a:endParaRPr lang="en-US" sz="1400" dirty="0"/>
          </a:p>
        </p:txBody>
      </p:sp>
      <p:sp>
        <p:nvSpPr>
          <p:cNvPr id="6" name="Text 4"/>
          <p:cNvSpPr/>
          <p:nvPr/>
        </p:nvSpPr>
        <p:spPr>
          <a:xfrm>
            <a:off x="457200" y="2578608"/>
            <a:ext cx="4023360" cy="1234440"/>
          </a:xfrm>
          <a:prstGeom prst="rect">
            <a:avLst/>
          </a:prstGeom>
          <a:noFill/>
          <a:ln/>
        </p:spPr>
        <p:txBody>
          <a:bodyPr wrap="square" lIns="0" tIns="0" rIns="0" bIns="0" rtlCol="0" anchor="ctr"/>
          <a:lstStyle/>
          <a:p>
            <a:pPr marL="0" indent="0">
              <a:buNone/>
            </a:pPr>
            <a:r>
              <a:rPr lang="en-US" sz="1250" b="1" dirty="0">
                <a:solidFill>
                  <a:srgbClr val="EE9B00"/>
                </a:solidFill>
                <a:latin typeface="Calibri" pitchFamily="34" charset="0"/>
                <a:ea typeface="Calibri" pitchFamily="34" charset="-122"/>
                <a:cs typeface="Calibri" pitchFamily="34" charset="-120"/>
              </a:rPr>
              <a:t>• μ and σ</a:t>
            </a:r>
            <a:r>
              <a:rPr lang="en-US" sz="1250" dirty="0">
                <a:solidFill>
                  <a:srgbClr val="E9F5F9"/>
                </a:solidFill>
                <a:latin typeface="Calibri" pitchFamily="34" charset="0"/>
                <a:ea typeface="Calibri" pitchFamily="34" charset="-122"/>
                <a:cs typeface="Calibri" pitchFamily="34" charset="-120"/>
              </a:rPr>
              <a:t>  are running dataset statistics (replay buffer)
</a:t>
            </a:r>
            <a:r>
              <a:rPr lang="en-US" sz="1250" b="1" dirty="0">
                <a:solidFill>
                  <a:srgbClr val="EE9B00"/>
                </a:solidFill>
                <a:latin typeface="Calibri" pitchFamily="34" charset="0"/>
                <a:ea typeface="Calibri" pitchFamily="34" charset="-122"/>
                <a:cs typeface="Calibri" pitchFamily="34" charset="-120"/>
              </a:rPr>
              <a:t>• Zero-padding</a:t>
            </a:r>
            <a:r>
              <a:rPr lang="en-US" sz="1250" dirty="0">
                <a:solidFill>
                  <a:srgbClr val="E9F5F9"/>
                </a:solidFill>
                <a:latin typeface="Calibri" pitchFamily="34" charset="0"/>
                <a:ea typeface="Calibri" pitchFamily="34" charset="-122"/>
                <a:cs typeface="Calibri" pitchFamily="34" charset="-120"/>
              </a:rPr>
              <a:t>  if obs_dim &lt; n_qubits
</a:t>
            </a:r>
            <a:r>
              <a:rPr lang="en-US" sz="1250" b="1" dirty="0">
                <a:solidFill>
                  <a:srgbClr val="EE9B00"/>
                </a:solidFill>
                <a:latin typeface="Calibri" pitchFamily="34" charset="0"/>
                <a:ea typeface="Calibri" pitchFamily="34" charset="-122"/>
                <a:cs typeface="Calibri" pitchFamily="34" charset="-120"/>
              </a:rPr>
              <a:t>• Truncation</a:t>
            </a:r>
            <a:r>
              <a:rPr lang="en-US" sz="1250" dirty="0">
                <a:solidFill>
                  <a:srgbClr val="E9F5F9"/>
                </a:solidFill>
                <a:latin typeface="Calibri" pitchFamily="34" charset="0"/>
                <a:ea typeface="Calibri" pitchFamily="34" charset="-122"/>
                <a:cs typeface="Calibri" pitchFamily="34" charset="-120"/>
              </a:rPr>
              <a:t>  if obs_dim &gt; n_qubits</a:t>
            </a:r>
            <a:endParaRPr lang="en-US" sz="1250" dirty="0"/>
          </a:p>
        </p:txBody>
      </p:sp>
      <p:sp>
        <p:nvSpPr>
          <p:cNvPr id="7" name="Text 5"/>
          <p:cNvSpPr/>
          <p:nvPr/>
        </p:nvSpPr>
        <p:spPr>
          <a:xfrm>
            <a:off x="4709160" y="1078992"/>
            <a:ext cx="4023360" cy="347472"/>
          </a:xfrm>
          <a:prstGeom prst="rect">
            <a:avLst/>
          </a:prstGeom>
          <a:noFill/>
          <a:ln/>
        </p:spPr>
        <p:txBody>
          <a:bodyPr wrap="square" lIns="0" tIns="0" rIns="0" bIns="0" rtlCol="0" anchor="ctr"/>
          <a:lstStyle/>
          <a:p>
            <a:pPr marL="0" indent="0">
              <a:buNone/>
            </a:pPr>
            <a:r>
              <a:rPr lang="en-US" sz="1700" b="1" dirty="0">
                <a:solidFill>
                  <a:srgbClr val="94D2BD"/>
                </a:solidFill>
                <a:latin typeface="Calibri" pitchFamily="34" charset="0"/>
                <a:ea typeface="Calibri" pitchFamily="34" charset="-122"/>
                <a:cs typeface="Calibri" pitchFamily="34" charset="-120"/>
              </a:rPr>
              <a:t>Identity-Block Init (Grant 2019)</a:t>
            </a:r>
            <a:endParaRPr lang="en-US" sz="1700" dirty="0"/>
          </a:p>
        </p:txBody>
      </p:sp>
      <p:sp>
        <p:nvSpPr>
          <p:cNvPr id="8" name="Shape 6"/>
          <p:cNvSpPr/>
          <p:nvPr/>
        </p:nvSpPr>
        <p:spPr>
          <a:xfrm>
            <a:off x="4709160" y="1481328"/>
            <a:ext cx="4023360" cy="1005840"/>
          </a:xfrm>
          <a:prstGeom prst="rect">
            <a:avLst/>
          </a:prstGeom>
          <a:solidFill>
            <a:srgbClr val="132232"/>
          </a:solidFill>
          <a:ln w="12700">
            <a:solidFill>
              <a:srgbClr val="0A9396"/>
            </a:solidFill>
            <a:prstDash val="solid"/>
          </a:ln>
        </p:spPr>
        <p:txBody>
          <a:bodyPr/>
          <a:lstStyle/>
          <a:p>
            <a:endParaRPr lang="es-ES"/>
          </a:p>
        </p:txBody>
      </p:sp>
      <p:sp>
        <p:nvSpPr>
          <p:cNvPr id="9" name="Text 7"/>
          <p:cNvSpPr/>
          <p:nvPr/>
        </p:nvSpPr>
        <p:spPr>
          <a:xfrm>
            <a:off x="4709160" y="1481328"/>
            <a:ext cx="4023360" cy="1005840"/>
          </a:xfrm>
          <a:prstGeom prst="rect">
            <a:avLst/>
          </a:prstGeom>
          <a:noFill/>
          <a:ln/>
        </p:spPr>
        <p:txBody>
          <a:bodyPr wrap="square" lIns="0" tIns="0" rIns="0" bIns="0" rtlCol="0" anchor="ctr"/>
          <a:lstStyle/>
          <a:p>
            <a:pPr marL="0" indent="0" algn="ctr">
              <a:buNone/>
            </a:pPr>
            <a:r>
              <a:rPr lang="en-US" sz="1300" dirty="0">
                <a:solidFill>
                  <a:srgbClr val="94D2BD"/>
                </a:solidFill>
                <a:latin typeface="Consolas" pitchFamily="34" charset="0"/>
                <a:ea typeface="Consolas" pitchFamily="34" charset="-122"/>
                <a:cs typeface="Consolas" pitchFamily="34" charset="-120"/>
              </a:rPr>
              <a:t>θ ~ Uniform(0, 2π)</a:t>
            </a:r>
            <a:endParaRPr lang="en-US" sz="1300" dirty="0"/>
          </a:p>
          <a:p>
            <a:pPr marL="0" indent="0" algn="ctr">
              <a:buNone/>
            </a:pPr>
            <a:r>
              <a:rPr lang="en-US" sz="1300" dirty="0">
                <a:solidFill>
                  <a:srgbClr val="94D2BD"/>
                </a:solidFill>
                <a:latin typeface="Consolas" pitchFamily="34" charset="0"/>
                <a:ea typeface="Consolas" pitchFamily="34" charset="-122"/>
                <a:cs typeface="Consolas" pitchFamily="34" charset="-120"/>
              </a:rPr>
              <a:t>w = −θ</a:t>
            </a:r>
            <a:endParaRPr lang="en-US" sz="1300" dirty="0"/>
          </a:p>
          <a:p>
            <a:pPr marL="0" indent="0" algn="ctr">
              <a:buNone/>
            </a:pPr>
            <a:r>
              <a:rPr lang="en-US" sz="1300" dirty="0">
                <a:solidFill>
                  <a:srgbClr val="94D2BD"/>
                </a:solidFill>
                <a:latin typeface="Consolas" pitchFamily="34" charset="0"/>
                <a:ea typeface="Consolas" pitchFamily="34" charset="-122"/>
                <a:cs typeface="Consolas" pitchFamily="34" charset="-120"/>
              </a:rPr>
              <a:t>⇒  U(θ, w, xs) = I  for all xs</a:t>
            </a:r>
            <a:endParaRPr lang="en-US" sz="1300" dirty="0"/>
          </a:p>
        </p:txBody>
      </p:sp>
      <p:sp>
        <p:nvSpPr>
          <p:cNvPr id="10" name="Text 8"/>
          <p:cNvSpPr/>
          <p:nvPr/>
        </p:nvSpPr>
        <p:spPr>
          <a:xfrm>
            <a:off x="4709160" y="2578608"/>
            <a:ext cx="4023360" cy="1234440"/>
          </a:xfrm>
          <a:prstGeom prst="rect">
            <a:avLst/>
          </a:prstGeom>
          <a:noFill/>
          <a:ln/>
        </p:spPr>
        <p:txBody>
          <a:bodyPr wrap="square" lIns="0" tIns="0" rIns="0" bIns="0" rtlCol="0" anchor="ctr"/>
          <a:lstStyle/>
          <a:p>
            <a:pPr marL="0" indent="0">
              <a:buNone/>
            </a:pPr>
            <a:r>
              <a:rPr lang="en-US" sz="1250" b="1" dirty="0">
                <a:solidFill>
                  <a:srgbClr val="EE9B00"/>
                </a:solidFill>
                <a:latin typeface="Calibri" pitchFamily="34" charset="0"/>
                <a:ea typeface="Calibri" pitchFamily="34" charset="-122"/>
                <a:cs typeface="Calibri" pitchFamily="34" charset="-120"/>
              </a:rPr>
              <a:t>• U = I at init</a:t>
            </a:r>
            <a:r>
              <a:rPr lang="en-US" sz="1250" dirty="0">
                <a:solidFill>
                  <a:srgbClr val="E9F5F9"/>
                </a:solidFill>
                <a:latin typeface="Calibri" pitchFamily="34" charset="0"/>
                <a:ea typeface="Calibri" pitchFamily="34" charset="-122"/>
                <a:cs typeface="Calibri" pitchFamily="34" charset="-120"/>
              </a:rPr>
              <a:t>  → non-vanishing gradients guaranteed
</a:t>
            </a:r>
            <a:r>
              <a:rPr lang="en-US" sz="1250" b="1" dirty="0">
                <a:solidFill>
                  <a:srgbClr val="EE9B00"/>
                </a:solidFill>
                <a:latin typeface="Calibri" pitchFamily="34" charset="0"/>
                <a:ea typeface="Calibri" pitchFamily="34" charset="-122"/>
                <a:cs typeface="Calibri" pitchFamily="34" charset="-120"/>
              </a:rPr>
              <a:t>• Symmetry θ + w → 0</a:t>
            </a:r>
            <a:r>
              <a:rPr lang="en-US" sz="1250" dirty="0">
                <a:solidFill>
                  <a:srgbClr val="E9F5F9"/>
                </a:solidFill>
                <a:latin typeface="Calibri" pitchFamily="34" charset="0"/>
                <a:ea typeface="Calibri" pitchFamily="34" charset="-122"/>
                <a:cs typeface="Calibri" pitchFamily="34" charset="-120"/>
              </a:rPr>
              <a:t>  ensures neutral initial output
</a:t>
            </a:r>
            <a:r>
              <a:rPr lang="en-US" sz="1250" b="1" dirty="0">
                <a:solidFill>
                  <a:srgbClr val="94D2BD"/>
                </a:solidFill>
                <a:latin typeface="Calibri" pitchFamily="34" charset="0"/>
                <a:ea typeface="Calibri" pitchFamily="34" charset="-122"/>
                <a:cs typeface="Calibri" pitchFamily="34" charset="-120"/>
              </a:rPr>
              <a:t>• Test T4</a:t>
            </a:r>
            <a:r>
              <a:rPr lang="en-US" sz="1250" dirty="0">
                <a:solidFill>
                  <a:srgbClr val="E9F5F9"/>
                </a:solidFill>
                <a:latin typeface="Calibri" pitchFamily="34" charset="0"/>
                <a:ea typeface="Calibri" pitchFamily="34" charset="-122"/>
                <a:cs typeface="Calibri" pitchFamily="34" charset="-120"/>
              </a:rPr>
              <a:t>  checks  |w + θ| &lt; 1e-7</a:t>
            </a:r>
            <a:endParaRPr lang="en-US" sz="1250" dirty="0"/>
          </a:p>
        </p:txBody>
      </p:sp>
      <p:sp>
        <p:nvSpPr>
          <p:cNvPr id="11" name="Shape 9"/>
          <p:cNvSpPr/>
          <p:nvPr/>
        </p:nvSpPr>
        <p:spPr>
          <a:xfrm>
            <a:off x="4526280" y="1078992"/>
            <a:ext cx="0" cy="2743200"/>
          </a:xfrm>
          <a:prstGeom prst="line">
            <a:avLst/>
          </a:prstGeom>
          <a:noFill/>
          <a:ln w="12700">
            <a:solidFill>
              <a:srgbClr val="0A9396"/>
            </a:solidFill>
            <a:prstDash val="dash"/>
          </a:ln>
        </p:spPr>
        <p:txBody>
          <a:bodyPr/>
          <a:lstStyle/>
          <a:p>
            <a:endParaRPr lang="es-ES"/>
          </a:p>
        </p:txBody>
      </p:sp>
      <p:sp>
        <p:nvSpPr>
          <p:cNvPr id="12" name="Shape 10"/>
          <p:cNvSpPr/>
          <p:nvPr/>
        </p:nvSpPr>
        <p:spPr>
          <a:xfrm>
            <a:off x="384048" y="3931920"/>
            <a:ext cx="8339328" cy="896112"/>
          </a:xfrm>
          <a:prstGeom prst="rect">
            <a:avLst/>
          </a:prstGeom>
          <a:solidFill>
            <a:srgbClr val="1B2D3F"/>
          </a:solidFill>
          <a:ln w="12700">
            <a:solidFill>
              <a:srgbClr val="4A7FA5"/>
            </a:solidFill>
            <a:prstDash val="solid"/>
          </a:ln>
        </p:spPr>
        <p:txBody>
          <a:bodyPr/>
          <a:lstStyle/>
          <a:p>
            <a:endParaRPr lang="es-ES"/>
          </a:p>
        </p:txBody>
      </p:sp>
      <p:sp>
        <p:nvSpPr>
          <p:cNvPr id="13" name="Text 11"/>
          <p:cNvSpPr/>
          <p:nvPr/>
        </p:nvSpPr>
        <p:spPr>
          <a:xfrm>
            <a:off x="457200" y="3977640"/>
            <a:ext cx="8229600" cy="804672"/>
          </a:xfrm>
          <a:prstGeom prst="rect">
            <a:avLst/>
          </a:prstGeom>
          <a:noFill/>
          <a:ln/>
        </p:spPr>
        <p:txBody>
          <a:bodyPr wrap="square" lIns="0" tIns="0" rIns="0" bIns="0" rtlCol="0" anchor="ctr"/>
          <a:lstStyle/>
          <a:p>
            <a:pPr marL="0" indent="0" algn="l">
              <a:buNone/>
            </a:pPr>
            <a:r>
              <a:rPr lang="en-US" sz="1200" dirty="0">
                <a:solidFill>
                  <a:srgbClr val="E9F5F9"/>
                </a:solidFill>
                <a:latin typeface="Consolas" pitchFamily="34" charset="0"/>
                <a:ea typeface="Consolas" pitchFamily="34" charset="-122"/>
                <a:cs typeface="Consolas" pitchFamily="34" charset="-120"/>
              </a:rPr>
              <a:t>forward(s): </a:t>
            </a:r>
          </a:p>
          <a:p>
            <a:pPr marL="0" indent="0" algn="l">
              <a:buNone/>
            </a:pPr>
            <a:r>
              <a:rPr lang="en-US" sz="1200" dirty="0">
                <a:solidFill>
                  <a:srgbClr val="E9F5F9"/>
                </a:solidFill>
                <a:latin typeface="Consolas" pitchFamily="34" charset="0"/>
                <a:ea typeface="Consolas" pitchFamily="34" charset="-122"/>
                <a:cs typeface="Consolas" pitchFamily="34" charset="-120"/>
              </a:rPr>
              <a:t> 1) encode s → </a:t>
            </a:r>
            <a:r>
              <a:rPr lang="en-US" sz="1200" dirty="0" err="1">
                <a:solidFill>
                  <a:srgbClr val="E9F5F9"/>
                </a:solidFill>
                <a:latin typeface="Consolas" pitchFamily="34" charset="0"/>
                <a:ea typeface="Consolas" pitchFamily="34" charset="-122"/>
                <a:cs typeface="Consolas" pitchFamily="34" charset="-120"/>
              </a:rPr>
              <a:t>xs</a:t>
            </a:r>
            <a:r>
              <a:rPr lang="en-US" sz="1200" dirty="0">
                <a:solidFill>
                  <a:srgbClr val="E9F5F9"/>
                </a:solidFill>
                <a:latin typeface="Consolas" pitchFamily="34" charset="0"/>
                <a:ea typeface="Consolas" pitchFamily="34" charset="-122"/>
                <a:cs typeface="Consolas" pitchFamily="34" charset="-120"/>
              </a:rPr>
              <a:t>  </a:t>
            </a:r>
          </a:p>
          <a:p>
            <a:pPr marL="0" indent="0" algn="l">
              <a:buNone/>
            </a:pPr>
            <a:r>
              <a:rPr lang="en-US" sz="1200" dirty="0">
                <a:solidFill>
                  <a:srgbClr val="E9F5F9"/>
                </a:solidFill>
                <a:latin typeface="Consolas" pitchFamily="34" charset="0"/>
                <a:ea typeface="Consolas" pitchFamily="34" charset="-122"/>
                <a:cs typeface="Consolas" pitchFamily="34" charset="-120"/>
              </a:rPr>
              <a:t> 2) zero-pad → xs ∈ </a:t>
            </a:r>
            <a:r>
              <a:rPr lang="en-US" sz="1200" dirty="0" err="1">
                <a:solidFill>
                  <a:srgbClr val="E9F5F9"/>
                </a:solidFill>
                <a:latin typeface="Consolas" pitchFamily="34" charset="0"/>
                <a:ea typeface="Consolas" pitchFamily="34" charset="-122"/>
                <a:cs typeface="Consolas" pitchFamily="34" charset="-120"/>
              </a:rPr>
              <a:t>ℝ^n_qubits</a:t>
            </a:r>
            <a:r>
              <a:rPr lang="en-US" sz="1200" dirty="0">
                <a:solidFill>
                  <a:srgbClr val="E9F5F9"/>
                </a:solidFill>
                <a:latin typeface="Consolas" pitchFamily="34" charset="0"/>
                <a:ea typeface="Consolas" pitchFamily="34" charset="-122"/>
                <a:cs typeface="Consolas" pitchFamily="34" charset="-120"/>
              </a:rPr>
              <a:t>   </a:t>
            </a:r>
          </a:p>
          <a:p>
            <a:pPr marL="0" indent="0" algn="l">
              <a:buNone/>
            </a:pPr>
            <a:r>
              <a:rPr lang="en-US" sz="1200" dirty="0">
                <a:solidFill>
                  <a:srgbClr val="E9F5F9"/>
                </a:solidFill>
                <a:latin typeface="Consolas" pitchFamily="34" charset="0"/>
                <a:ea typeface="Consolas" pitchFamily="34" charset="-122"/>
                <a:cs typeface="Consolas" pitchFamily="34" charset="-120"/>
              </a:rPr>
              <a:t>3) eval QNode per sample  </a:t>
            </a:r>
          </a:p>
          <a:p>
            <a:pPr marL="0" indent="0" algn="l">
              <a:buNone/>
            </a:pPr>
            <a:r>
              <a:rPr lang="en-US" sz="1200" dirty="0">
                <a:solidFill>
                  <a:srgbClr val="E9F5F9"/>
                </a:solidFill>
                <a:latin typeface="Consolas" pitchFamily="34" charset="0"/>
                <a:ea typeface="Consolas" pitchFamily="34" charset="-122"/>
                <a:cs typeface="Consolas" pitchFamily="34" charset="-120"/>
              </a:rPr>
              <a:t> 4) V = a·⟨Z₀⟩ + b</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F5F9"/>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594360"/>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Test Suite — 10 Unit Tests</a:t>
            </a:r>
            <a:endParaRPr lang="en-US" sz="3200" dirty="0"/>
          </a:p>
        </p:txBody>
      </p:sp>
      <p:sp>
        <p:nvSpPr>
          <p:cNvPr id="3" name="Shape 1"/>
          <p:cNvSpPr/>
          <p:nvPr/>
        </p:nvSpPr>
        <p:spPr>
          <a:xfrm>
            <a:off x="384048" y="1097280"/>
            <a:ext cx="4160520" cy="658368"/>
          </a:xfrm>
          <a:prstGeom prst="rect">
            <a:avLst/>
          </a:prstGeom>
          <a:solidFill>
            <a:srgbClr val="FFFFFF"/>
          </a:solidFill>
          <a:ln w="12700">
            <a:solidFill>
              <a:srgbClr val="C5D8E8"/>
            </a:solidFill>
            <a:prstDash val="solid"/>
          </a:ln>
          <a:effectLst>
            <a:outerShdw blurRad="50800" dist="12700" dir="8100000" algn="bl" rotWithShape="0">
              <a:srgbClr val="000000">
                <a:alpha val="8000"/>
              </a:srgbClr>
            </a:outerShdw>
          </a:effectLst>
        </p:spPr>
        <p:txBody>
          <a:bodyPr/>
          <a:lstStyle/>
          <a:p>
            <a:endParaRPr lang="es-ES"/>
          </a:p>
        </p:txBody>
      </p:sp>
      <p:sp>
        <p:nvSpPr>
          <p:cNvPr id="4" name="Shape 2"/>
          <p:cNvSpPr/>
          <p:nvPr/>
        </p:nvSpPr>
        <p:spPr>
          <a:xfrm>
            <a:off x="384048" y="1097280"/>
            <a:ext cx="457200" cy="658368"/>
          </a:xfrm>
          <a:prstGeom prst="rect">
            <a:avLst/>
          </a:prstGeom>
          <a:solidFill>
            <a:srgbClr val="0A9396"/>
          </a:solidFill>
          <a:ln w="12700">
            <a:solidFill>
              <a:srgbClr val="0A9396"/>
            </a:solidFill>
            <a:prstDash val="solid"/>
          </a:ln>
        </p:spPr>
        <p:txBody>
          <a:bodyPr/>
          <a:lstStyle/>
          <a:p>
            <a:endParaRPr lang="es-ES"/>
          </a:p>
        </p:txBody>
      </p:sp>
      <p:sp>
        <p:nvSpPr>
          <p:cNvPr id="5" name="Text 3"/>
          <p:cNvSpPr/>
          <p:nvPr/>
        </p:nvSpPr>
        <p:spPr>
          <a:xfrm>
            <a:off x="384048" y="1097280"/>
            <a:ext cx="45720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onsolas" pitchFamily="34" charset="0"/>
                <a:ea typeface="Consolas" pitchFamily="34" charset="-122"/>
                <a:cs typeface="Consolas" pitchFamily="34" charset="-120"/>
              </a:rPr>
              <a:t>T1</a:t>
            </a:r>
            <a:endParaRPr lang="en-US" sz="1000" dirty="0"/>
          </a:p>
        </p:txBody>
      </p:sp>
      <p:sp>
        <p:nvSpPr>
          <p:cNvPr id="6" name="Text 4"/>
          <p:cNvSpPr/>
          <p:nvPr/>
        </p:nvSpPr>
        <p:spPr>
          <a:xfrm>
            <a:off x="896112" y="1133856"/>
            <a:ext cx="3584448"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Output shape</a:t>
            </a:r>
            <a:endParaRPr lang="en-US" sz="1200" dirty="0"/>
          </a:p>
        </p:txBody>
      </p:sp>
      <p:sp>
        <p:nvSpPr>
          <p:cNvPr id="7" name="Text 5"/>
          <p:cNvSpPr/>
          <p:nvPr/>
        </p:nvSpPr>
        <p:spPr>
          <a:xfrm>
            <a:off x="896112" y="1389888"/>
            <a:ext cx="3584448" cy="301752"/>
          </a:xfrm>
          <a:prstGeom prst="rect">
            <a:avLst/>
          </a:prstGeom>
          <a:noFill/>
          <a:ln/>
        </p:spPr>
        <p:txBody>
          <a:bodyPr wrap="square" lIns="0" tIns="0" rIns="0" bIns="0" rtlCol="0" anchor="ctr"/>
          <a:lstStyle/>
          <a:p>
            <a:pPr marL="0" indent="0">
              <a:buNone/>
            </a:pPr>
            <a:r>
              <a:rPr lang="en-US" sz="1000" dirty="0">
                <a:solidFill>
                  <a:srgbClr val="4A6B80"/>
                </a:solidFill>
                <a:latin typeface="Calibri" pitchFamily="34" charset="0"/>
                <a:ea typeface="Calibri" pitchFamily="34" charset="-122"/>
                <a:cs typeface="Calibri" pitchFamily="34" charset="-120"/>
              </a:rPr>
              <a:t>forward() returns tensor (B,) for batch size B</a:t>
            </a:r>
            <a:endParaRPr lang="en-US" sz="1000" dirty="0"/>
          </a:p>
        </p:txBody>
      </p:sp>
      <p:sp>
        <p:nvSpPr>
          <p:cNvPr id="8" name="Shape 6"/>
          <p:cNvSpPr/>
          <p:nvPr/>
        </p:nvSpPr>
        <p:spPr>
          <a:xfrm>
            <a:off x="384048" y="1847088"/>
            <a:ext cx="4160520" cy="658368"/>
          </a:xfrm>
          <a:prstGeom prst="rect">
            <a:avLst/>
          </a:prstGeom>
          <a:solidFill>
            <a:srgbClr val="FFFFFF"/>
          </a:solidFill>
          <a:ln w="12700">
            <a:solidFill>
              <a:srgbClr val="C5D8E8"/>
            </a:solidFill>
            <a:prstDash val="solid"/>
          </a:ln>
          <a:effectLst>
            <a:outerShdw blurRad="50800" dist="12700" dir="8100000" algn="bl" rotWithShape="0">
              <a:srgbClr val="000000">
                <a:alpha val="8000"/>
              </a:srgbClr>
            </a:outerShdw>
          </a:effectLst>
        </p:spPr>
        <p:txBody>
          <a:bodyPr/>
          <a:lstStyle/>
          <a:p>
            <a:endParaRPr lang="es-ES"/>
          </a:p>
        </p:txBody>
      </p:sp>
      <p:sp>
        <p:nvSpPr>
          <p:cNvPr id="9" name="Shape 7"/>
          <p:cNvSpPr/>
          <p:nvPr/>
        </p:nvSpPr>
        <p:spPr>
          <a:xfrm>
            <a:off x="384048" y="1847088"/>
            <a:ext cx="457200" cy="658368"/>
          </a:xfrm>
          <a:prstGeom prst="rect">
            <a:avLst/>
          </a:prstGeom>
          <a:solidFill>
            <a:srgbClr val="0A9396"/>
          </a:solidFill>
          <a:ln w="12700">
            <a:solidFill>
              <a:srgbClr val="0A9396"/>
            </a:solidFill>
            <a:prstDash val="solid"/>
          </a:ln>
        </p:spPr>
        <p:txBody>
          <a:bodyPr/>
          <a:lstStyle/>
          <a:p>
            <a:endParaRPr lang="es-ES"/>
          </a:p>
        </p:txBody>
      </p:sp>
      <p:sp>
        <p:nvSpPr>
          <p:cNvPr id="10" name="Text 8"/>
          <p:cNvSpPr/>
          <p:nvPr/>
        </p:nvSpPr>
        <p:spPr>
          <a:xfrm>
            <a:off x="384048" y="1847088"/>
            <a:ext cx="45720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onsolas" pitchFamily="34" charset="0"/>
                <a:ea typeface="Consolas" pitchFamily="34" charset="-122"/>
                <a:cs typeface="Consolas" pitchFamily="34" charset="-120"/>
              </a:rPr>
              <a:t>T2</a:t>
            </a:r>
            <a:endParaRPr lang="en-US" sz="1000" dirty="0"/>
          </a:p>
        </p:txBody>
      </p:sp>
      <p:sp>
        <p:nvSpPr>
          <p:cNvPr id="11" name="Text 9"/>
          <p:cNvSpPr/>
          <p:nvPr/>
        </p:nvSpPr>
        <p:spPr>
          <a:xfrm>
            <a:off x="896112" y="1883664"/>
            <a:ext cx="3584448"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Output range</a:t>
            </a:r>
            <a:endParaRPr lang="en-US" sz="1200" dirty="0"/>
          </a:p>
        </p:txBody>
      </p:sp>
      <p:sp>
        <p:nvSpPr>
          <p:cNvPr id="12" name="Text 10"/>
          <p:cNvSpPr/>
          <p:nvPr/>
        </p:nvSpPr>
        <p:spPr>
          <a:xfrm>
            <a:off x="896112" y="2139696"/>
            <a:ext cx="3584448" cy="301752"/>
          </a:xfrm>
          <a:prstGeom prst="rect">
            <a:avLst/>
          </a:prstGeom>
          <a:noFill/>
          <a:ln/>
        </p:spPr>
        <p:txBody>
          <a:bodyPr wrap="square" lIns="0" tIns="0" rIns="0" bIns="0" rtlCol="0" anchor="ctr"/>
          <a:lstStyle/>
          <a:p>
            <a:pPr marL="0" indent="0">
              <a:buNone/>
            </a:pPr>
            <a:r>
              <a:rPr lang="en-US" sz="1000" dirty="0">
                <a:solidFill>
                  <a:srgbClr val="4A6B80"/>
                </a:solidFill>
                <a:latin typeface="Calibri" pitchFamily="34" charset="0"/>
                <a:ea typeface="Calibri" pitchFamily="34" charset="-122"/>
                <a:cs typeface="Calibri" pitchFamily="34" charset="-120"/>
              </a:rPr>
              <a:t>Raw ⟨Z₀⟩ ∈ [−1, 1] with identity affine head</a:t>
            </a:r>
            <a:endParaRPr lang="en-US" sz="1000" dirty="0"/>
          </a:p>
        </p:txBody>
      </p:sp>
      <p:sp>
        <p:nvSpPr>
          <p:cNvPr id="13" name="Shape 11"/>
          <p:cNvSpPr/>
          <p:nvPr/>
        </p:nvSpPr>
        <p:spPr>
          <a:xfrm>
            <a:off x="384048" y="2596896"/>
            <a:ext cx="4160520" cy="658368"/>
          </a:xfrm>
          <a:prstGeom prst="rect">
            <a:avLst/>
          </a:prstGeom>
          <a:solidFill>
            <a:srgbClr val="FFFFFF"/>
          </a:solidFill>
          <a:ln w="12700">
            <a:solidFill>
              <a:srgbClr val="C5D8E8"/>
            </a:solidFill>
            <a:prstDash val="solid"/>
          </a:ln>
          <a:effectLst>
            <a:outerShdw blurRad="50800" dist="12700" dir="8100000" algn="bl" rotWithShape="0">
              <a:srgbClr val="000000">
                <a:alpha val="8000"/>
              </a:srgbClr>
            </a:outerShdw>
          </a:effectLst>
        </p:spPr>
        <p:txBody>
          <a:bodyPr/>
          <a:lstStyle/>
          <a:p>
            <a:endParaRPr lang="es-ES"/>
          </a:p>
        </p:txBody>
      </p:sp>
      <p:sp>
        <p:nvSpPr>
          <p:cNvPr id="14" name="Shape 12"/>
          <p:cNvSpPr/>
          <p:nvPr/>
        </p:nvSpPr>
        <p:spPr>
          <a:xfrm>
            <a:off x="384048" y="2596896"/>
            <a:ext cx="457200" cy="658368"/>
          </a:xfrm>
          <a:prstGeom prst="rect">
            <a:avLst/>
          </a:prstGeom>
          <a:solidFill>
            <a:srgbClr val="0A9396"/>
          </a:solidFill>
          <a:ln w="12700">
            <a:solidFill>
              <a:srgbClr val="0A9396"/>
            </a:solidFill>
            <a:prstDash val="solid"/>
          </a:ln>
        </p:spPr>
        <p:txBody>
          <a:bodyPr/>
          <a:lstStyle/>
          <a:p>
            <a:endParaRPr lang="es-ES"/>
          </a:p>
        </p:txBody>
      </p:sp>
      <p:sp>
        <p:nvSpPr>
          <p:cNvPr id="15" name="Text 13"/>
          <p:cNvSpPr/>
          <p:nvPr/>
        </p:nvSpPr>
        <p:spPr>
          <a:xfrm>
            <a:off x="384048" y="2596896"/>
            <a:ext cx="45720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onsolas" pitchFamily="34" charset="0"/>
                <a:ea typeface="Consolas" pitchFamily="34" charset="-122"/>
                <a:cs typeface="Consolas" pitchFamily="34" charset="-120"/>
              </a:rPr>
              <a:t>T3</a:t>
            </a:r>
            <a:endParaRPr lang="en-US" sz="1000" dirty="0"/>
          </a:p>
        </p:txBody>
      </p:sp>
      <p:sp>
        <p:nvSpPr>
          <p:cNvPr id="16" name="Text 14"/>
          <p:cNvSpPr/>
          <p:nvPr/>
        </p:nvSpPr>
        <p:spPr>
          <a:xfrm>
            <a:off x="896112" y="2633472"/>
            <a:ext cx="3584448"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Parameter-shift grads</a:t>
            </a:r>
            <a:endParaRPr lang="en-US" sz="1200" dirty="0"/>
          </a:p>
        </p:txBody>
      </p:sp>
      <p:sp>
        <p:nvSpPr>
          <p:cNvPr id="17" name="Text 15"/>
          <p:cNvSpPr/>
          <p:nvPr/>
        </p:nvSpPr>
        <p:spPr>
          <a:xfrm>
            <a:off x="896112" y="2889504"/>
            <a:ext cx="3584448" cy="301752"/>
          </a:xfrm>
          <a:prstGeom prst="rect">
            <a:avLst/>
          </a:prstGeom>
          <a:noFill/>
          <a:ln/>
        </p:spPr>
        <p:txBody>
          <a:bodyPr wrap="square" lIns="0" tIns="0" rIns="0" bIns="0" rtlCol="0" anchor="ctr"/>
          <a:lstStyle/>
          <a:p>
            <a:pPr marL="0" indent="0">
              <a:buNone/>
            </a:pPr>
            <a:r>
              <a:rPr lang="en-US" sz="1000" dirty="0">
                <a:solidFill>
                  <a:srgbClr val="4A6B80"/>
                </a:solidFill>
                <a:latin typeface="Calibri" pitchFamily="34" charset="0"/>
                <a:ea typeface="Calibri" pitchFamily="34" charset="-122"/>
                <a:cs typeface="Calibri" pitchFamily="34" charset="-120"/>
              </a:rPr>
              <a:t>θ, w, a, b all receive finite .grad after backward()</a:t>
            </a:r>
            <a:endParaRPr lang="en-US" sz="1000" dirty="0"/>
          </a:p>
        </p:txBody>
      </p:sp>
      <p:sp>
        <p:nvSpPr>
          <p:cNvPr id="18" name="Shape 16"/>
          <p:cNvSpPr/>
          <p:nvPr/>
        </p:nvSpPr>
        <p:spPr>
          <a:xfrm>
            <a:off x="384048" y="3346704"/>
            <a:ext cx="4160520" cy="658368"/>
          </a:xfrm>
          <a:prstGeom prst="rect">
            <a:avLst/>
          </a:prstGeom>
          <a:solidFill>
            <a:srgbClr val="FFFFFF"/>
          </a:solidFill>
          <a:ln w="12700">
            <a:solidFill>
              <a:srgbClr val="C5D8E8"/>
            </a:solidFill>
            <a:prstDash val="solid"/>
          </a:ln>
          <a:effectLst>
            <a:outerShdw blurRad="50800" dist="12700" dir="8100000" algn="bl" rotWithShape="0">
              <a:srgbClr val="000000">
                <a:alpha val="8000"/>
              </a:srgbClr>
            </a:outerShdw>
          </a:effectLst>
        </p:spPr>
        <p:txBody>
          <a:bodyPr/>
          <a:lstStyle/>
          <a:p>
            <a:endParaRPr lang="es-ES"/>
          </a:p>
        </p:txBody>
      </p:sp>
      <p:sp>
        <p:nvSpPr>
          <p:cNvPr id="19" name="Shape 17"/>
          <p:cNvSpPr/>
          <p:nvPr/>
        </p:nvSpPr>
        <p:spPr>
          <a:xfrm>
            <a:off x="384048" y="3346704"/>
            <a:ext cx="457200" cy="658368"/>
          </a:xfrm>
          <a:prstGeom prst="rect">
            <a:avLst/>
          </a:prstGeom>
          <a:solidFill>
            <a:srgbClr val="0A9396"/>
          </a:solidFill>
          <a:ln w="12700">
            <a:solidFill>
              <a:srgbClr val="0A9396"/>
            </a:solidFill>
            <a:prstDash val="solid"/>
          </a:ln>
        </p:spPr>
        <p:txBody>
          <a:bodyPr/>
          <a:lstStyle/>
          <a:p>
            <a:endParaRPr lang="es-ES"/>
          </a:p>
        </p:txBody>
      </p:sp>
      <p:sp>
        <p:nvSpPr>
          <p:cNvPr id="20" name="Text 18"/>
          <p:cNvSpPr/>
          <p:nvPr/>
        </p:nvSpPr>
        <p:spPr>
          <a:xfrm>
            <a:off x="384048" y="3346704"/>
            <a:ext cx="45720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onsolas" pitchFamily="34" charset="0"/>
                <a:ea typeface="Consolas" pitchFamily="34" charset="-122"/>
                <a:cs typeface="Consolas" pitchFamily="34" charset="-120"/>
              </a:rPr>
              <a:t>T4</a:t>
            </a:r>
            <a:endParaRPr lang="en-US" sz="1000" dirty="0"/>
          </a:p>
        </p:txBody>
      </p:sp>
      <p:sp>
        <p:nvSpPr>
          <p:cNvPr id="21" name="Text 19"/>
          <p:cNvSpPr/>
          <p:nvPr/>
        </p:nvSpPr>
        <p:spPr>
          <a:xfrm>
            <a:off x="896112" y="3383280"/>
            <a:ext cx="3584448"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Identity-block init</a:t>
            </a:r>
            <a:endParaRPr lang="en-US" sz="1200" dirty="0"/>
          </a:p>
        </p:txBody>
      </p:sp>
      <p:sp>
        <p:nvSpPr>
          <p:cNvPr id="22" name="Text 20"/>
          <p:cNvSpPr/>
          <p:nvPr/>
        </p:nvSpPr>
        <p:spPr>
          <a:xfrm>
            <a:off x="896112" y="3639312"/>
            <a:ext cx="3584448" cy="301752"/>
          </a:xfrm>
          <a:prstGeom prst="rect">
            <a:avLst/>
          </a:prstGeom>
          <a:noFill/>
          <a:ln/>
        </p:spPr>
        <p:txBody>
          <a:bodyPr wrap="square" lIns="0" tIns="0" rIns="0" bIns="0" rtlCol="0" anchor="ctr"/>
          <a:lstStyle/>
          <a:p>
            <a:pPr marL="0" indent="0">
              <a:buNone/>
            </a:pPr>
            <a:r>
              <a:rPr lang="en-US" sz="1000" dirty="0">
                <a:solidFill>
                  <a:srgbClr val="4A6B80"/>
                </a:solidFill>
                <a:latin typeface="Calibri" pitchFamily="34" charset="0"/>
                <a:ea typeface="Calibri" pitchFamily="34" charset="-122"/>
                <a:cs typeface="Calibri" pitchFamily="34" charset="-120"/>
              </a:rPr>
              <a:t>|w + θ|_max &lt; 1e-7 at network construction</a:t>
            </a:r>
            <a:endParaRPr lang="en-US" sz="1000" dirty="0"/>
          </a:p>
        </p:txBody>
      </p:sp>
      <p:sp>
        <p:nvSpPr>
          <p:cNvPr id="23" name="Shape 21"/>
          <p:cNvSpPr/>
          <p:nvPr/>
        </p:nvSpPr>
        <p:spPr>
          <a:xfrm>
            <a:off x="384048" y="4096512"/>
            <a:ext cx="4160520" cy="658368"/>
          </a:xfrm>
          <a:prstGeom prst="rect">
            <a:avLst/>
          </a:prstGeom>
          <a:solidFill>
            <a:srgbClr val="FFFFFF"/>
          </a:solidFill>
          <a:ln w="12700">
            <a:solidFill>
              <a:srgbClr val="C5D8E8"/>
            </a:solidFill>
            <a:prstDash val="solid"/>
          </a:ln>
          <a:effectLst>
            <a:outerShdw blurRad="50800" dist="12700" dir="8100000" algn="bl" rotWithShape="0">
              <a:srgbClr val="000000">
                <a:alpha val="8000"/>
              </a:srgbClr>
            </a:outerShdw>
          </a:effectLst>
        </p:spPr>
        <p:txBody>
          <a:bodyPr/>
          <a:lstStyle/>
          <a:p>
            <a:endParaRPr lang="es-ES"/>
          </a:p>
        </p:txBody>
      </p:sp>
      <p:sp>
        <p:nvSpPr>
          <p:cNvPr id="24" name="Shape 22"/>
          <p:cNvSpPr/>
          <p:nvPr/>
        </p:nvSpPr>
        <p:spPr>
          <a:xfrm>
            <a:off x="384048" y="4096512"/>
            <a:ext cx="457200" cy="658368"/>
          </a:xfrm>
          <a:prstGeom prst="rect">
            <a:avLst/>
          </a:prstGeom>
          <a:solidFill>
            <a:srgbClr val="0A9396"/>
          </a:solidFill>
          <a:ln w="12700">
            <a:solidFill>
              <a:srgbClr val="0A9396"/>
            </a:solidFill>
            <a:prstDash val="solid"/>
          </a:ln>
        </p:spPr>
        <p:txBody>
          <a:bodyPr/>
          <a:lstStyle/>
          <a:p>
            <a:endParaRPr lang="es-ES"/>
          </a:p>
        </p:txBody>
      </p:sp>
      <p:sp>
        <p:nvSpPr>
          <p:cNvPr id="25" name="Text 23"/>
          <p:cNvSpPr/>
          <p:nvPr/>
        </p:nvSpPr>
        <p:spPr>
          <a:xfrm>
            <a:off x="384048" y="4096512"/>
            <a:ext cx="45720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onsolas" pitchFamily="34" charset="0"/>
                <a:ea typeface="Consolas" pitchFamily="34" charset="-122"/>
                <a:cs typeface="Consolas" pitchFamily="34" charset="-120"/>
              </a:rPr>
              <a:t>T5</a:t>
            </a:r>
            <a:endParaRPr lang="en-US" sz="1000" dirty="0"/>
          </a:p>
        </p:txBody>
      </p:sp>
      <p:sp>
        <p:nvSpPr>
          <p:cNvPr id="26" name="Text 24"/>
          <p:cNvSpPr/>
          <p:nvPr/>
        </p:nvSpPr>
        <p:spPr>
          <a:xfrm>
            <a:off x="896112" y="4133088"/>
            <a:ext cx="3584448"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Layerwise interface</a:t>
            </a:r>
            <a:endParaRPr lang="en-US" sz="1200" dirty="0"/>
          </a:p>
        </p:txBody>
      </p:sp>
      <p:sp>
        <p:nvSpPr>
          <p:cNvPr id="27" name="Text 25"/>
          <p:cNvSpPr/>
          <p:nvPr/>
        </p:nvSpPr>
        <p:spPr>
          <a:xfrm>
            <a:off x="896112" y="4389120"/>
            <a:ext cx="3584448" cy="301752"/>
          </a:xfrm>
          <a:prstGeom prst="rect">
            <a:avLst/>
          </a:prstGeom>
          <a:noFill/>
          <a:ln/>
        </p:spPr>
        <p:txBody>
          <a:bodyPr wrap="square" lIns="0" tIns="0" rIns="0" bIns="0" rtlCol="0" anchor="ctr"/>
          <a:lstStyle/>
          <a:p>
            <a:pPr marL="0" indent="0">
              <a:buNone/>
            </a:pPr>
            <a:r>
              <a:rPr lang="en-US" sz="1000" dirty="0">
                <a:solidFill>
                  <a:srgbClr val="4A6B80"/>
                </a:solidFill>
                <a:latin typeface="Calibri" pitchFamily="34" charset="0"/>
                <a:ea typeface="Calibri" pitchFamily="34" charset="-122"/>
                <a:cs typeface="Calibri" pitchFamily="34" charset="-120"/>
              </a:rPr>
              <a:t>set_active_layers validates range [1, n_layers]</a:t>
            </a:r>
            <a:endParaRPr lang="en-US" sz="1000" dirty="0"/>
          </a:p>
        </p:txBody>
      </p:sp>
      <p:sp>
        <p:nvSpPr>
          <p:cNvPr id="28" name="Shape 26"/>
          <p:cNvSpPr/>
          <p:nvPr/>
        </p:nvSpPr>
        <p:spPr>
          <a:xfrm>
            <a:off x="4736592" y="1097280"/>
            <a:ext cx="4160520" cy="658368"/>
          </a:xfrm>
          <a:prstGeom prst="rect">
            <a:avLst/>
          </a:prstGeom>
          <a:solidFill>
            <a:srgbClr val="FFFFFF"/>
          </a:solidFill>
          <a:ln w="12700">
            <a:solidFill>
              <a:srgbClr val="C5D8E8"/>
            </a:solidFill>
            <a:prstDash val="solid"/>
          </a:ln>
          <a:effectLst>
            <a:outerShdw blurRad="50800" dist="12700" dir="8100000" algn="bl" rotWithShape="0">
              <a:srgbClr val="000000">
                <a:alpha val="8000"/>
              </a:srgbClr>
            </a:outerShdw>
          </a:effectLst>
        </p:spPr>
        <p:txBody>
          <a:bodyPr/>
          <a:lstStyle/>
          <a:p>
            <a:endParaRPr lang="es-ES"/>
          </a:p>
        </p:txBody>
      </p:sp>
      <p:sp>
        <p:nvSpPr>
          <p:cNvPr id="29" name="Shape 27"/>
          <p:cNvSpPr/>
          <p:nvPr/>
        </p:nvSpPr>
        <p:spPr>
          <a:xfrm>
            <a:off x="4736592" y="1097280"/>
            <a:ext cx="457200" cy="658368"/>
          </a:xfrm>
          <a:prstGeom prst="rect">
            <a:avLst/>
          </a:prstGeom>
          <a:solidFill>
            <a:srgbClr val="0A9396"/>
          </a:solidFill>
          <a:ln w="12700">
            <a:solidFill>
              <a:srgbClr val="0A9396"/>
            </a:solidFill>
            <a:prstDash val="solid"/>
          </a:ln>
        </p:spPr>
        <p:txBody>
          <a:bodyPr/>
          <a:lstStyle/>
          <a:p>
            <a:endParaRPr lang="es-ES"/>
          </a:p>
        </p:txBody>
      </p:sp>
      <p:sp>
        <p:nvSpPr>
          <p:cNvPr id="30" name="Text 28"/>
          <p:cNvSpPr/>
          <p:nvPr/>
        </p:nvSpPr>
        <p:spPr>
          <a:xfrm>
            <a:off x="4736592" y="1097280"/>
            <a:ext cx="45720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onsolas" pitchFamily="34" charset="0"/>
                <a:ea typeface="Consolas" pitchFamily="34" charset="-122"/>
                <a:cs typeface="Consolas" pitchFamily="34" charset="-120"/>
              </a:rPr>
              <a:t>T6</a:t>
            </a:r>
            <a:endParaRPr lang="en-US" sz="1000" dirty="0"/>
          </a:p>
        </p:txBody>
      </p:sp>
      <p:sp>
        <p:nvSpPr>
          <p:cNvPr id="31" name="Text 29"/>
          <p:cNvSpPr/>
          <p:nvPr/>
        </p:nvSpPr>
        <p:spPr>
          <a:xfrm>
            <a:off x="5248656" y="1133856"/>
            <a:ext cx="3584448"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Arctan encoding</a:t>
            </a:r>
            <a:endParaRPr lang="en-US" sz="1200" dirty="0"/>
          </a:p>
        </p:txBody>
      </p:sp>
      <p:sp>
        <p:nvSpPr>
          <p:cNvPr id="32" name="Text 30"/>
          <p:cNvSpPr/>
          <p:nvPr/>
        </p:nvSpPr>
        <p:spPr>
          <a:xfrm>
            <a:off x="5248656" y="1389888"/>
            <a:ext cx="3584448" cy="301752"/>
          </a:xfrm>
          <a:prstGeom prst="rect">
            <a:avLst/>
          </a:prstGeom>
          <a:noFill/>
          <a:ln/>
        </p:spPr>
        <p:txBody>
          <a:bodyPr wrap="square" lIns="0" tIns="0" rIns="0" bIns="0" rtlCol="0" anchor="ctr"/>
          <a:lstStyle/>
          <a:p>
            <a:pPr marL="0" indent="0">
              <a:buNone/>
            </a:pPr>
            <a:r>
              <a:rPr lang="en-US" sz="1000" dirty="0">
                <a:solidFill>
                  <a:srgbClr val="4A6B80"/>
                </a:solidFill>
                <a:latin typeface="Calibri" pitchFamily="34" charset="0"/>
                <a:ea typeface="Calibri" pitchFamily="34" charset="-122"/>
                <a:cs typeface="Calibri" pitchFamily="34" charset="-120"/>
              </a:rPr>
              <a:t>xs ∈ (−π/2, π/2) for any input</a:t>
            </a:r>
            <a:endParaRPr lang="en-US" sz="1000" dirty="0"/>
          </a:p>
        </p:txBody>
      </p:sp>
      <p:sp>
        <p:nvSpPr>
          <p:cNvPr id="33" name="Shape 31"/>
          <p:cNvSpPr/>
          <p:nvPr/>
        </p:nvSpPr>
        <p:spPr>
          <a:xfrm>
            <a:off x="4736592" y="1847088"/>
            <a:ext cx="4160520" cy="658368"/>
          </a:xfrm>
          <a:prstGeom prst="rect">
            <a:avLst/>
          </a:prstGeom>
          <a:solidFill>
            <a:srgbClr val="FFFFFF"/>
          </a:solidFill>
          <a:ln w="12700">
            <a:solidFill>
              <a:srgbClr val="C5D8E8"/>
            </a:solidFill>
            <a:prstDash val="solid"/>
          </a:ln>
          <a:effectLst>
            <a:outerShdw blurRad="50800" dist="12700" dir="8100000" algn="bl" rotWithShape="0">
              <a:srgbClr val="000000">
                <a:alpha val="8000"/>
              </a:srgbClr>
            </a:outerShdw>
          </a:effectLst>
        </p:spPr>
        <p:txBody>
          <a:bodyPr/>
          <a:lstStyle/>
          <a:p>
            <a:endParaRPr lang="es-ES"/>
          </a:p>
        </p:txBody>
      </p:sp>
      <p:sp>
        <p:nvSpPr>
          <p:cNvPr id="34" name="Shape 32"/>
          <p:cNvSpPr/>
          <p:nvPr/>
        </p:nvSpPr>
        <p:spPr>
          <a:xfrm>
            <a:off x="4736592" y="1847088"/>
            <a:ext cx="457200" cy="658368"/>
          </a:xfrm>
          <a:prstGeom prst="rect">
            <a:avLst/>
          </a:prstGeom>
          <a:solidFill>
            <a:srgbClr val="0A9396"/>
          </a:solidFill>
          <a:ln w="12700">
            <a:solidFill>
              <a:srgbClr val="0A9396"/>
            </a:solidFill>
            <a:prstDash val="solid"/>
          </a:ln>
        </p:spPr>
        <p:txBody>
          <a:bodyPr/>
          <a:lstStyle/>
          <a:p>
            <a:endParaRPr lang="es-ES"/>
          </a:p>
        </p:txBody>
      </p:sp>
      <p:sp>
        <p:nvSpPr>
          <p:cNvPr id="35" name="Text 33"/>
          <p:cNvSpPr/>
          <p:nvPr/>
        </p:nvSpPr>
        <p:spPr>
          <a:xfrm>
            <a:off x="4736592" y="1847088"/>
            <a:ext cx="45720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onsolas" pitchFamily="34" charset="0"/>
                <a:ea typeface="Consolas" pitchFamily="34" charset="-122"/>
                <a:cs typeface="Consolas" pitchFamily="34" charset="-120"/>
              </a:rPr>
              <a:t>T7</a:t>
            </a:r>
            <a:endParaRPr lang="en-US" sz="1000" dirty="0"/>
          </a:p>
        </p:txBody>
      </p:sp>
      <p:sp>
        <p:nvSpPr>
          <p:cNvPr id="36" name="Text 34"/>
          <p:cNvSpPr/>
          <p:nvPr/>
        </p:nvSpPr>
        <p:spPr>
          <a:xfrm>
            <a:off x="5248656" y="1883664"/>
            <a:ext cx="3584448"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Parameter count</a:t>
            </a:r>
            <a:endParaRPr lang="en-US" sz="1200" dirty="0"/>
          </a:p>
        </p:txBody>
      </p:sp>
      <p:sp>
        <p:nvSpPr>
          <p:cNvPr id="37" name="Text 35"/>
          <p:cNvSpPr/>
          <p:nvPr/>
        </p:nvSpPr>
        <p:spPr>
          <a:xfrm>
            <a:off x="5248656" y="2139696"/>
            <a:ext cx="3584448" cy="301752"/>
          </a:xfrm>
          <a:prstGeom prst="rect">
            <a:avLst/>
          </a:prstGeom>
          <a:noFill/>
          <a:ln/>
        </p:spPr>
        <p:txBody>
          <a:bodyPr wrap="square" lIns="0" tIns="0" rIns="0" bIns="0" rtlCol="0" anchor="ctr"/>
          <a:lstStyle/>
          <a:p>
            <a:pPr marL="0" indent="0">
              <a:buNone/>
            </a:pPr>
            <a:r>
              <a:rPr lang="en-US" sz="1000" dirty="0">
                <a:solidFill>
                  <a:srgbClr val="4A6B80"/>
                </a:solidFill>
                <a:latin typeface="Calibri" pitchFamily="34" charset="0"/>
                <a:ea typeface="Calibri" pitchFamily="34" charset="-122"/>
                <a:cs typeface="Calibri" pitchFamily="34" charset="-120"/>
              </a:rPr>
              <a:t>144 quantum + 2 head = 146 total</a:t>
            </a:r>
            <a:endParaRPr lang="en-US" sz="1000" dirty="0"/>
          </a:p>
        </p:txBody>
      </p:sp>
      <p:sp>
        <p:nvSpPr>
          <p:cNvPr id="38" name="Shape 36"/>
          <p:cNvSpPr/>
          <p:nvPr/>
        </p:nvSpPr>
        <p:spPr>
          <a:xfrm>
            <a:off x="4736592" y="2596896"/>
            <a:ext cx="4160520" cy="658368"/>
          </a:xfrm>
          <a:prstGeom prst="rect">
            <a:avLst/>
          </a:prstGeom>
          <a:solidFill>
            <a:srgbClr val="FFFFFF"/>
          </a:solidFill>
          <a:ln w="12700">
            <a:solidFill>
              <a:srgbClr val="C5D8E8"/>
            </a:solidFill>
            <a:prstDash val="solid"/>
          </a:ln>
          <a:effectLst>
            <a:outerShdw blurRad="50800" dist="12700" dir="8100000" algn="bl" rotWithShape="0">
              <a:srgbClr val="000000">
                <a:alpha val="8000"/>
              </a:srgbClr>
            </a:outerShdw>
          </a:effectLst>
        </p:spPr>
        <p:txBody>
          <a:bodyPr/>
          <a:lstStyle/>
          <a:p>
            <a:endParaRPr lang="es-ES"/>
          </a:p>
        </p:txBody>
      </p:sp>
      <p:sp>
        <p:nvSpPr>
          <p:cNvPr id="39" name="Shape 37"/>
          <p:cNvSpPr/>
          <p:nvPr/>
        </p:nvSpPr>
        <p:spPr>
          <a:xfrm>
            <a:off x="4736592" y="2596896"/>
            <a:ext cx="457200" cy="658368"/>
          </a:xfrm>
          <a:prstGeom prst="rect">
            <a:avLst/>
          </a:prstGeom>
          <a:solidFill>
            <a:srgbClr val="0A9396"/>
          </a:solidFill>
          <a:ln w="12700">
            <a:solidFill>
              <a:srgbClr val="0A9396"/>
            </a:solidFill>
            <a:prstDash val="solid"/>
          </a:ln>
        </p:spPr>
        <p:txBody>
          <a:bodyPr/>
          <a:lstStyle/>
          <a:p>
            <a:endParaRPr lang="es-ES"/>
          </a:p>
        </p:txBody>
      </p:sp>
      <p:sp>
        <p:nvSpPr>
          <p:cNvPr id="40" name="Text 38"/>
          <p:cNvSpPr/>
          <p:nvPr/>
        </p:nvSpPr>
        <p:spPr>
          <a:xfrm>
            <a:off x="4736592" y="2596896"/>
            <a:ext cx="45720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onsolas" pitchFamily="34" charset="0"/>
                <a:ea typeface="Consolas" pitchFamily="34" charset="-122"/>
                <a:cs typeface="Consolas" pitchFamily="34" charset="-120"/>
              </a:rPr>
              <a:t>T8</a:t>
            </a:r>
            <a:endParaRPr lang="en-US" sz="1000" dirty="0"/>
          </a:p>
        </p:txBody>
      </p:sp>
      <p:sp>
        <p:nvSpPr>
          <p:cNvPr id="41" name="Text 39"/>
          <p:cNvSpPr/>
          <p:nvPr/>
        </p:nvSpPr>
        <p:spPr>
          <a:xfrm>
            <a:off x="5248656" y="2633472"/>
            <a:ext cx="3584448"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Deterministic outputs</a:t>
            </a:r>
            <a:endParaRPr lang="en-US" sz="1200" dirty="0"/>
          </a:p>
        </p:txBody>
      </p:sp>
      <p:sp>
        <p:nvSpPr>
          <p:cNvPr id="42" name="Text 40"/>
          <p:cNvSpPr/>
          <p:nvPr/>
        </p:nvSpPr>
        <p:spPr>
          <a:xfrm>
            <a:off x="5248656" y="2889504"/>
            <a:ext cx="3584448" cy="301752"/>
          </a:xfrm>
          <a:prstGeom prst="rect">
            <a:avLst/>
          </a:prstGeom>
          <a:noFill/>
          <a:ln/>
        </p:spPr>
        <p:txBody>
          <a:bodyPr wrap="square" lIns="0" tIns="0" rIns="0" bIns="0" rtlCol="0" anchor="ctr"/>
          <a:lstStyle/>
          <a:p>
            <a:pPr marL="0" indent="0">
              <a:buNone/>
            </a:pPr>
            <a:r>
              <a:rPr lang="en-US" sz="1000" dirty="0">
                <a:solidFill>
                  <a:srgbClr val="4A6B80"/>
                </a:solidFill>
                <a:latin typeface="Calibri" pitchFamily="34" charset="0"/>
                <a:ea typeface="Calibri" pitchFamily="34" charset="-122"/>
                <a:cs typeface="Calibri" pitchFamily="34" charset="-120"/>
              </a:rPr>
              <a:t>Two forward passes return finite, equal shapes</a:t>
            </a:r>
            <a:endParaRPr lang="en-US" sz="1000" dirty="0"/>
          </a:p>
        </p:txBody>
      </p:sp>
      <p:sp>
        <p:nvSpPr>
          <p:cNvPr id="43" name="Shape 41"/>
          <p:cNvSpPr/>
          <p:nvPr/>
        </p:nvSpPr>
        <p:spPr>
          <a:xfrm>
            <a:off x="4736592" y="3346704"/>
            <a:ext cx="4160520" cy="658368"/>
          </a:xfrm>
          <a:prstGeom prst="rect">
            <a:avLst/>
          </a:prstGeom>
          <a:solidFill>
            <a:srgbClr val="FFFFFF"/>
          </a:solidFill>
          <a:ln w="12700">
            <a:solidFill>
              <a:srgbClr val="C5D8E8"/>
            </a:solidFill>
            <a:prstDash val="solid"/>
          </a:ln>
          <a:effectLst>
            <a:outerShdw blurRad="50800" dist="12700" dir="8100000" algn="bl" rotWithShape="0">
              <a:srgbClr val="000000">
                <a:alpha val="8000"/>
              </a:srgbClr>
            </a:outerShdw>
          </a:effectLst>
        </p:spPr>
        <p:txBody>
          <a:bodyPr/>
          <a:lstStyle/>
          <a:p>
            <a:endParaRPr lang="es-ES"/>
          </a:p>
        </p:txBody>
      </p:sp>
      <p:sp>
        <p:nvSpPr>
          <p:cNvPr id="44" name="Shape 42"/>
          <p:cNvSpPr/>
          <p:nvPr/>
        </p:nvSpPr>
        <p:spPr>
          <a:xfrm>
            <a:off x="4736592" y="3346704"/>
            <a:ext cx="457200" cy="658368"/>
          </a:xfrm>
          <a:prstGeom prst="rect">
            <a:avLst/>
          </a:prstGeom>
          <a:solidFill>
            <a:srgbClr val="0A9396"/>
          </a:solidFill>
          <a:ln w="12700">
            <a:solidFill>
              <a:srgbClr val="0A9396"/>
            </a:solidFill>
            <a:prstDash val="solid"/>
          </a:ln>
        </p:spPr>
        <p:txBody>
          <a:bodyPr/>
          <a:lstStyle/>
          <a:p>
            <a:endParaRPr lang="es-ES"/>
          </a:p>
        </p:txBody>
      </p:sp>
      <p:sp>
        <p:nvSpPr>
          <p:cNvPr id="45" name="Text 43"/>
          <p:cNvSpPr/>
          <p:nvPr/>
        </p:nvSpPr>
        <p:spPr>
          <a:xfrm>
            <a:off x="4736592" y="3346704"/>
            <a:ext cx="45720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onsolas" pitchFamily="34" charset="0"/>
                <a:ea typeface="Consolas" pitchFamily="34" charset="-122"/>
                <a:cs typeface="Consolas" pitchFamily="34" charset="-120"/>
              </a:rPr>
              <a:t>T9</a:t>
            </a:r>
            <a:endParaRPr lang="en-US" sz="1000" dirty="0"/>
          </a:p>
        </p:txBody>
      </p:sp>
      <p:sp>
        <p:nvSpPr>
          <p:cNvPr id="46" name="Text 44"/>
          <p:cNvSpPr/>
          <p:nvPr/>
        </p:nvSpPr>
        <p:spPr>
          <a:xfrm>
            <a:off x="5248656" y="3383280"/>
            <a:ext cx="3584448"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Zero-padding</a:t>
            </a:r>
            <a:endParaRPr lang="en-US" sz="1200" dirty="0"/>
          </a:p>
        </p:txBody>
      </p:sp>
      <p:sp>
        <p:nvSpPr>
          <p:cNvPr id="47" name="Text 45"/>
          <p:cNvSpPr/>
          <p:nvPr/>
        </p:nvSpPr>
        <p:spPr>
          <a:xfrm>
            <a:off x="5248656" y="3639312"/>
            <a:ext cx="3584448" cy="301752"/>
          </a:xfrm>
          <a:prstGeom prst="rect">
            <a:avLst/>
          </a:prstGeom>
          <a:noFill/>
          <a:ln/>
        </p:spPr>
        <p:txBody>
          <a:bodyPr wrap="square" lIns="0" tIns="0" rIns="0" bIns="0" rtlCol="0" anchor="ctr"/>
          <a:lstStyle/>
          <a:p>
            <a:pPr marL="0" indent="0">
              <a:buNone/>
            </a:pPr>
            <a:r>
              <a:rPr lang="en-US" sz="1000" dirty="0">
                <a:solidFill>
                  <a:srgbClr val="4A6B80"/>
                </a:solidFill>
                <a:latin typeface="Calibri" pitchFamily="34" charset="0"/>
                <a:ea typeface="Calibri" pitchFamily="34" charset="-122"/>
                <a:cs typeface="Calibri" pitchFamily="34" charset="-120"/>
              </a:rPr>
              <a:t>obs_dim=4 &lt; n_qubits=8 raises no error</a:t>
            </a:r>
            <a:endParaRPr lang="en-US" sz="1000" dirty="0"/>
          </a:p>
        </p:txBody>
      </p:sp>
      <p:sp>
        <p:nvSpPr>
          <p:cNvPr id="48" name="Shape 46"/>
          <p:cNvSpPr/>
          <p:nvPr/>
        </p:nvSpPr>
        <p:spPr>
          <a:xfrm>
            <a:off x="4736592" y="4096512"/>
            <a:ext cx="4160520" cy="658368"/>
          </a:xfrm>
          <a:prstGeom prst="rect">
            <a:avLst/>
          </a:prstGeom>
          <a:solidFill>
            <a:srgbClr val="FFFFFF"/>
          </a:solidFill>
          <a:ln w="12700">
            <a:solidFill>
              <a:srgbClr val="C5D8E8"/>
            </a:solidFill>
            <a:prstDash val="solid"/>
          </a:ln>
          <a:effectLst>
            <a:outerShdw blurRad="50800" dist="12700" dir="8100000" algn="bl" rotWithShape="0">
              <a:srgbClr val="000000">
                <a:alpha val="8000"/>
              </a:srgbClr>
            </a:outerShdw>
          </a:effectLst>
        </p:spPr>
        <p:txBody>
          <a:bodyPr/>
          <a:lstStyle/>
          <a:p>
            <a:endParaRPr lang="es-ES"/>
          </a:p>
        </p:txBody>
      </p:sp>
      <p:sp>
        <p:nvSpPr>
          <p:cNvPr id="49" name="Shape 47"/>
          <p:cNvSpPr/>
          <p:nvPr/>
        </p:nvSpPr>
        <p:spPr>
          <a:xfrm>
            <a:off x="4736592" y="4096512"/>
            <a:ext cx="457200" cy="658368"/>
          </a:xfrm>
          <a:prstGeom prst="rect">
            <a:avLst/>
          </a:prstGeom>
          <a:solidFill>
            <a:srgbClr val="0A9396"/>
          </a:solidFill>
          <a:ln w="12700">
            <a:solidFill>
              <a:srgbClr val="0A9396"/>
            </a:solidFill>
            <a:prstDash val="solid"/>
          </a:ln>
        </p:spPr>
        <p:txBody>
          <a:bodyPr/>
          <a:lstStyle/>
          <a:p>
            <a:endParaRPr lang="es-ES"/>
          </a:p>
        </p:txBody>
      </p:sp>
      <p:sp>
        <p:nvSpPr>
          <p:cNvPr id="50" name="Text 48"/>
          <p:cNvSpPr/>
          <p:nvPr/>
        </p:nvSpPr>
        <p:spPr>
          <a:xfrm>
            <a:off x="4736592" y="4096512"/>
            <a:ext cx="45720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onsolas" pitchFamily="34" charset="0"/>
                <a:ea typeface="Consolas" pitchFamily="34" charset="-122"/>
                <a:cs typeface="Consolas" pitchFamily="34" charset="-120"/>
              </a:rPr>
              <a:t>T10</a:t>
            </a:r>
            <a:endParaRPr lang="en-US" sz="1000" dirty="0"/>
          </a:p>
        </p:txBody>
      </p:sp>
      <p:sp>
        <p:nvSpPr>
          <p:cNvPr id="51" name="Text 49"/>
          <p:cNvSpPr/>
          <p:nvPr/>
        </p:nvSpPr>
        <p:spPr>
          <a:xfrm>
            <a:off x="5248656" y="4133088"/>
            <a:ext cx="3584448"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Grad through head</a:t>
            </a:r>
            <a:endParaRPr lang="en-US" sz="1200" dirty="0"/>
          </a:p>
        </p:txBody>
      </p:sp>
      <p:sp>
        <p:nvSpPr>
          <p:cNvPr id="52" name="Text 50"/>
          <p:cNvSpPr/>
          <p:nvPr/>
        </p:nvSpPr>
        <p:spPr>
          <a:xfrm>
            <a:off x="5248656" y="4389120"/>
            <a:ext cx="3584448" cy="301752"/>
          </a:xfrm>
          <a:prstGeom prst="rect">
            <a:avLst/>
          </a:prstGeom>
          <a:noFill/>
          <a:ln/>
        </p:spPr>
        <p:txBody>
          <a:bodyPr wrap="square" lIns="0" tIns="0" rIns="0" bIns="0" rtlCol="0" anchor="ctr"/>
          <a:lstStyle/>
          <a:p>
            <a:pPr marL="0" indent="0">
              <a:buNone/>
            </a:pPr>
            <a:r>
              <a:rPr lang="en-US" sz="1000" dirty="0">
                <a:solidFill>
                  <a:srgbClr val="4A6B80"/>
                </a:solidFill>
                <a:latin typeface="Calibri" pitchFamily="34" charset="0"/>
                <a:ea typeface="Calibri" pitchFamily="34" charset="-122"/>
                <a:cs typeface="Calibri" pitchFamily="34" charset="-120"/>
              </a:rPr>
              <a:t>a.grad and b.grad non-None after backward()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Code — Representative Fragments</a:t>
            </a:r>
            <a:endParaRPr lang="en-US" sz="3200" dirty="0"/>
          </a:p>
        </p:txBody>
      </p:sp>
      <p:sp>
        <p:nvSpPr>
          <p:cNvPr id="3" name="Text 1"/>
          <p:cNvSpPr/>
          <p:nvPr/>
        </p:nvSpPr>
        <p:spPr>
          <a:xfrm>
            <a:off x="384048" y="1005840"/>
            <a:ext cx="4114800" cy="292608"/>
          </a:xfrm>
          <a:prstGeom prst="rect">
            <a:avLst/>
          </a:prstGeom>
          <a:noFill/>
          <a:ln/>
        </p:spPr>
        <p:txBody>
          <a:bodyPr wrap="square" lIns="0" tIns="0" rIns="0" bIns="0" rtlCol="0" anchor="ctr"/>
          <a:lstStyle/>
          <a:p>
            <a:pPr marL="0" indent="0">
              <a:buNone/>
            </a:pPr>
            <a:r>
              <a:rPr lang="en-US" sz="1300" b="1" dirty="0">
                <a:solidFill>
                  <a:srgbClr val="94D2BD"/>
                </a:solidFill>
                <a:latin typeface="Calibri" pitchFamily="34" charset="0"/>
                <a:ea typeface="Calibri" pitchFamily="34" charset="-122"/>
                <a:cs typeface="Calibri" pitchFamily="34" charset="-120"/>
              </a:rPr>
              <a:t>forward() — full inference pass</a:t>
            </a:r>
            <a:endParaRPr lang="en-US" sz="1300" dirty="0"/>
          </a:p>
        </p:txBody>
      </p:sp>
      <p:sp>
        <p:nvSpPr>
          <p:cNvPr id="4" name="Shape 2"/>
          <p:cNvSpPr/>
          <p:nvPr/>
        </p:nvSpPr>
        <p:spPr>
          <a:xfrm>
            <a:off x="384048" y="1335024"/>
            <a:ext cx="4114800" cy="1874520"/>
          </a:xfrm>
          <a:prstGeom prst="rect">
            <a:avLst/>
          </a:prstGeom>
          <a:solidFill>
            <a:srgbClr val="132232"/>
          </a:solidFill>
          <a:ln w="12700">
            <a:solidFill>
              <a:srgbClr val="0A9396"/>
            </a:solidFill>
            <a:prstDash val="solid"/>
          </a:ln>
        </p:spPr>
        <p:txBody>
          <a:bodyPr/>
          <a:lstStyle/>
          <a:p>
            <a:endParaRPr lang="es-ES"/>
          </a:p>
        </p:txBody>
      </p:sp>
      <p:sp>
        <p:nvSpPr>
          <p:cNvPr id="5" name="Text 3"/>
          <p:cNvSpPr/>
          <p:nvPr/>
        </p:nvSpPr>
        <p:spPr>
          <a:xfrm>
            <a:off x="411480" y="1353312"/>
            <a:ext cx="4059936" cy="1874520"/>
          </a:xfrm>
          <a:prstGeom prst="rect">
            <a:avLst/>
          </a:prstGeom>
          <a:noFill/>
          <a:ln/>
        </p:spPr>
        <p:txBody>
          <a:bodyPr wrap="square" lIns="1016" tIns="1016" rIns="1016" bIns="1016" rtlCol="0" anchor="ctr"/>
          <a:lstStyle/>
          <a:p>
            <a:pPr marL="0" indent="0">
              <a:buNone/>
            </a:pPr>
            <a:r>
              <a:rPr lang="en-US" sz="1050" dirty="0">
                <a:solidFill>
                  <a:srgbClr val="94D2BD"/>
                </a:solidFill>
                <a:latin typeface="Consolas" pitchFamily="34" charset="0"/>
                <a:ea typeface="Consolas" pitchFamily="34" charset="-122"/>
                <a:cs typeface="Consolas" pitchFamily="34" charset="-120"/>
              </a:rPr>
              <a:t>xs = _arctan_encode(s, μ, σ)</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zero-pad to n_qubits if obs_dim &lt; n_qubits</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pad = zeros(B, n_qubits − obs_dim)</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xs  = cat([xs, pad], dim=−1)</a:t>
            </a:r>
            <a:endParaRPr lang="en-US" sz="1050" dirty="0"/>
          </a:p>
          <a:p>
            <a:pPr marL="0" indent="0">
              <a:buNone/>
            </a:pP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expvals = stack([</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circuit(theta, w, xs[i], L)</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for i in range(B)</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return a * expvals + b</a:t>
            </a:r>
            <a:endParaRPr lang="en-US" sz="1050" dirty="0"/>
          </a:p>
        </p:txBody>
      </p:sp>
      <p:sp>
        <p:nvSpPr>
          <p:cNvPr id="6" name="Text 4"/>
          <p:cNvSpPr/>
          <p:nvPr/>
        </p:nvSpPr>
        <p:spPr>
          <a:xfrm>
            <a:off x="4681728" y="1005840"/>
            <a:ext cx="4114800" cy="292608"/>
          </a:xfrm>
          <a:prstGeom prst="rect">
            <a:avLst/>
          </a:prstGeom>
          <a:noFill/>
          <a:ln/>
        </p:spPr>
        <p:txBody>
          <a:bodyPr wrap="square" lIns="0" tIns="0" rIns="0" bIns="0" rtlCol="0" anchor="ctr"/>
          <a:lstStyle/>
          <a:p>
            <a:pPr marL="0" indent="0">
              <a:buNone/>
            </a:pPr>
            <a:r>
              <a:rPr lang="en-US" sz="1300" b="1" dirty="0">
                <a:solidFill>
                  <a:srgbClr val="94D2BD"/>
                </a:solidFill>
                <a:latin typeface="Calibri" pitchFamily="34" charset="0"/>
                <a:ea typeface="Calibri" pitchFamily="34" charset="-122"/>
                <a:cs typeface="Calibri" pitchFamily="34" charset="-120"/>
              </a:rPr>
              <a:t>circuit() — PennyLane QNode</a:t>
            </a:r>
            <a:endParaRPr lang="en-US" sz="1300" dirty="0"/>
          </a:p>
        </p:txBody>
      </p:sp>
      <p:sp>
        <p:nvSpPr>
          <p:cNvPr id="7" name="Shape 5"/>
          <p:cNvSpPr/>
          <p:nvPr/>
        </p:nvSpPr>
        <p:spPr>
          <a:xfrm>
            <a:off x="4681728" y="1335024"/>
            <a:ext cx="4114800" cy="1874520"/>
          </a:xfrm>
          <a:prstGeom prst="rect">
            <a:avLst/>
          </a:prstGeom>
          <a:solidFill>
            <a:srgbClr val="132232"/>
          </a:solidFill>
          <a:ln w="12700">
            <a:solidFill>
              <a:srgbClr val="0A9396"/>
            </a:solidFill>
            <a:prstDash val="solid"/>
          </a:ln>
        </p:spPr>
        <p:txBody>
          <a:bodyPr/>
          <a:lstStyle/>
          <a:p>
            <a:endParaRPr lang="es-ES"/>
          </a:p>
        </p:txBody>
      </p:sp>
      <p:sp>
        <p:nvSpPr>
          <p:cNvPr id="8" name="Text 6"/>
          <p:cNvSpPr/>
          <p:nvPr/>
        </p:nvSpPr>
        <p:spPr>
          <a:xfrm>
            <a:off x="4709160" y="1353312"/>
            <a:ext cx="4059936" cy="1874520"/>
          </a:xfrm>
          <a:prstGeom prst="rect">
            <a:avLst/>
          </a:prstGeom>
          <a:noFill/>
          <a:ln/>
        </p:spPr>
        <p:txBody>
          <a:bodyPr wrap="square" lIns="1016" tIns="1016" rIns="1016" bIns="1016" rtlCol="0" anchor="ctr"/>
          <a:lstStyle/>
          <a:p>
            <a:pPr marL="0" indent="0">
              <a:buNone/>
            </a:pPr>
            <a:r>
              <a:rPr lang="en-US" sz="1050" dirty="0">
                <a:solidFill>
                  <a:srgbClr val="94D2BD"/>
                </a:solidFill>
                <a:latin typeface="Consolas" pitchFamily="34" charset="0"/>
                <a:ea typeface="Consolas" pitchFamily="34" charset="-122"/>
                <a:cs typeface="Consolas" pitchFamily="34" charset="-120"/>
              </a:rPr>
              <a:t>@qml.qnode(dev, diff_method="parameter-shift")</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def circuit(theta, w, xs, L):</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_cz_preamble(n_qubits)        # fixed</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for l in range(L):</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for q in range(n_qubits):</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angles = theta[l,q] + w[l,q]*xs[q]</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qml.Rot(*angles, wires=q)</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_cz_entangler(n_qubits)</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return qml.expval(qml.PauliZ(0))</a:t>
            </a:r>
            <a:endParaRPr lang="en-US" sz="1050" dirty="0"/>
          </a:p>
        </p:txBody>
      </p:sp>
      <p:sp>
        <p:nvSpPr>
          <p:cNvPr id="9" name="Text 7"/>
          <p:cNvSpPr/>
          <p:nvPr/>
        </p:nvSpPr>
        <p:spPr>
          <a:xfrm>
            <a:off x="384048" y="3310128"/>
            <a:ext cx="4114800" cy="292608"/>
          </a:xfrm>
          <a:prstGeom prst="rect">
            <a:avLst/>
          </a:prstGeom>
          <a:noFill/>
          <a:ln/>
        </p:spPr>
        <p:txBody>
          <a:bodyPr wrap="square" lIns="0" tIns="0" rIns="0" bIns="0" rtlCol="0" anchor="ctr"/>
          <a:lstStyle/>
          <a:p>
            <a:pPr marL="0" indent="0">
              <a:buNone/>
            </a:pPr>
            <a:r>
              <a:rPr lang="en-US" sz="1300" b="1" dirty="0">
                <a:solidFill>
                  <a:srgbClr val="94D2BD"/>
                </a:solidFill>
                <a:latin typeface="Calibri" pitchFamily="34" charset="0"/>
                <a:ea typeface="Calibri" pitchFamily="34" charset="-122"/>
                <a:cs typeface="Calibri" pitchFamily="34" charset="-120"/>
              </a:rPr>
              <a:t>_identity_block_init() — initialisation</a:t>
            </a:r>
            <a:endParaRPr lang="en-US" sz="1300" dirty="0"/>
          </a:p>
        </p:txBody>
      </p:sp>
      <p:sp>
        <p:nvSpPr>
          <p:cNvPr id="10" name="Shape 8"/>
          <p:cNvSpPr/>
          <p:nvPr/>
        </p:nvSpPr>
        <p:spPr>
          <a:xfrm>
            <a:off x="384048" y="3639312"/>
            <a:ext cx="4114800" cy="1170432"/>
          </a:xfrm>
          <a:prstGeom prst="rect">
            <a:avLst/>
          </a:prstGeom>
          <a:solidFill>
            <a:srgbClr val="132232"/>
          </a:solidFill>
          <a:ln w="12700">
            <a:solidFill>
              <a:srgbClr val="0A9396"/>
            </a:solidFill>
            <a:prstDash val="solid"/>
          </a:ln>
        </p:spPr>
        <p:txBody>
          <a:bodyPr/>
          <a:lstStyle/>
          <a:p>
            <a:endParaRPr lang="es-ES"/>
          </a:p>
        </p:txBody>
      </p:sp>
      <p:sp>
        <p:nvSpPr>
          <p:cNvPr id="11" name="Text 9"/>
          <p:cNvSpPr/>
          <p:nvPr/>
        </p:nvSpPr>
        <p:spPr>
          <a:xfrm>
            <a:off x="411480" y="3657600"/>
            <a:ext cx="4059936" cy="1170432"/>
          </a:xfrm>
          <a:prstGeom prst="rect">
            <a:avLst/>
          </a:prstGeom>
          <a:noFill/>
          <a:ln/>
        </p:spPr>
        <p:txBody>
          <a:bodyPr wrap="square" lIns="1016" tIns="1016" rIns="1016" bIns="1016" rtlCol="0" anchor="ctr"/>
          <a:lstStyle/>
          <a:p>
            <a:pPr marL="0" indent="0">
              <a:buNone/>
            </a:pPr>
            <a:r>
              <a:rPr lang="en-US" sz="1050" dirty="0">
                <a:solidFill>
                  <a:srgbClr val="94D2BD"/>
                </a:solidFill>
                <a:latin typeface="Consolas" pitchFamily="34" charset="0"/>
                <a:ea typeface="Consolas" pitchFamily="34" charset="-122"/>
                <a:cs typeface="Consolas" pitchFamily="34" charset="-120"/>
              </a:rPr>
              <a:t>theta_init = torch.empty(L, n, 3)</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.uniform_(0, 2π)</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w_init     = −theta_init.clone()</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return nn.Parameter(theta_init),</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nn.Parameter(w_init)</a:t>
            </a:r>
            <a:endParaRPr lang="en-US" sz="1050" dirty="0"/>
          </a:p>
        </p:txBody>
      </p:sp>
      <p:sp>
        <p:nvSpPr>
          <p:cNvPr id="12" name="Text 10"/>
          <p:cNvSpPr/>
          <p:nvPr/>
        </p:nvSpPr>
        <p:spPr>
          <a:xfrm>
            <a:off x="4681728" y="3310128"/>
            <a:ext cx="4114800" cy="292608"/>
          </a:xfrm>
          <a:prstGeom prst="rect">
            <a:avLst/>
          </a:prstGeom>
          <a:noFill/>
          <a:ln/>
        </p:spPr>
        <p:txBody>
          <a:bodyPr wrap="square" lIns="0" tIns="0" rIns="0" bIns="0" rtlCol="0" anchor="ctr"/>
          <a:lstStyle/>
          <a:p>
            <a:pPr marL="0" indent="0">
              <a:buNone/>
            </a:pPr>
            <a:r>
              <a:rPr lang="en-US" sz="1300" b="1" dirty="0">
                <a:solidFill>
                  <a:srgbClr val="94D2BD"/>
                </a:solidFill>
                <a:latin typeface="Calibri" pitchFamily="34" charset="0"/>
                <a:ea typeface="Calibri" pitchFamily="34" charset="-122"/>
                <a:cs typeface="Calibri" pitchFamily="34" charset="-120"/>
              </a:rPr>
              <a:t>set_active_layers() — layerwise training</a:t>
            </a:r>
            <a:endParaRPr lang="en-US" sz="1300" dirty="0"/>
          </a:p>
        </p:txBody>
      </p:sp>
      <p:sp>
        <p:nvSpPr>
          <p:cNvPr id="13" name="Shape 11"/>
          <p:cNvSpPr/>
          <p:nvPr/>
        </p:nvSpPr>
        <p:spPr>
          <a:xfrm>
            <a:off x="4681728" y="3639312"/>
            <a:ext cx="4114800" cy="1170432"/>
          </a:xfrm>
          <a:prstGeom prst="rect">
            <a:avLst/>
          </a:prstGeom>
          <a:solidFill>
            <a:srgbClr val="132232"/>
          </a:solidFill>
          <a:ln w="12700">
            <a:solidFill>
              <a:srgbClr val="0A9396"/>
            </a:solidFill>
            <a:prstDash val="solid"/>
          </a:ln>
        </p:spPr>
        <p:txBody>
          <a:bodyPr/>
          <a:lstStyle/>
          <a:p>
            <a:endParaRPr lang="es-ES"/>
          </a:p>
        </p:txBody>
      </p:sp>
      <p:sp>
        <p:nvSpPr>
          <p:cNvPr id="14" name="Text 12"/>
          <p:cNvSpPr/>
          <p:nvPr/>
        </p:nvSpPr>
        <p:spPr>
          <a:xfrm>
            <a:off x="4709160" y="3657600"/>
            <a:ext cx="4059936" cy="1170432"/>
          </a:xfrm>
          <a:prstGeom prst="rect">
            <a:avLst/>
          </a:prstGeom>
          <a:noFill/>
          <a:ln/>
        </p:spPr>
        <p:txBody>
          <a:bodyPr wrap="square" lIns="1016" tIns="1016" rIns="1016" bIns="1016" rtlCol="0" anchor="ctr"/>
          <a:lstStyle/>
          <a:p>
            <a:pPr marL="0" indent="0">
              <a:buNone/>
            </a:pPr>
            <a:r>
              <a:rPr lang="en-US" sz="1050" dirty="0">
                <a:solidFill>
                  <a:srgbClr val="94D2BD"/>
                </a:solidFill>
                <a:latin typeface="Consolas" pitchFamily="34" charset="0"/>
                <a:ea typeface="Consolas" pitchFamily="34" charset="-122"/>
                <a:cs typeface="Consolas" pitchFamily="34" charset="-120"/>
              </a:rPr>
              <a:t>def set_active_layers(self, n: int):</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if n &lt; 1 or n &gt; self.n_layers:</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raise ValueError(...)</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self._active_layers = n</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Skolik et al. schedule:</a:t>
            </a:r>
            <a:endParaRPr lang="en-US" sz="1050" dirty="0"/>
          </a:p>
          <a:p>
            <a:pPr marL="0" indent="0">
              <a:buNone/>
            </a:pPr>
            <a:r>
              <a:rPr lang="en-US" sz="1050" dirty="0">
                <a:solidFill>
                  <a:srgbClr val="94D2BD"/>
                </a:solidFill>
                <a:latin typeface="Consolas" pitchFamily="34" charset="0"/>
                <a:ea typeface="Consolas" pitchFamily="34" charset="-122"/>
                <a:cs typeface="Consolas" pitchFamily="34" charset="-120"/>
              </a:rPr>
              <a:t># 0–100k steps: set_active_layers(1)</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3" name="Text 1"/>
          <p:cNvSpPr/>
          <p:nvPr/>
        </p:nvSpPr>
        <p:spPr>
          <a:xfrm>
            <a:off x="502920" y="347472"/>
            <a:ext cx="813816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Summary &amp; Next Steps</a:t>
            </a:r>
            <a:endParaRPr lang="en-US" sz="3200" dirty="0"/>
          </a:p>
        </p:txBody>
      </p:sp>
      <p:sp>
        <p:nvSpPr>
          <p:cNvPr id="4" name="Shape 2"/>
          <p:cNvSpPr/>
          <p:nvPr/>
        </p:nvSpPr>
        <p:spPr>
          <a:xfrm>
            <a:off x="384048" y="1115568"/>
            <a:ext cx="201168" cy="201168"/>
          </a:xfrm>
          <a:prstGeom prst="ellipse">
            <a:avLst/>
          </a:prstGeom>
          <a:solidFill>
            <a:srgbClr val="EE9B00"/>
          </a:solidFill>
          <a:ln w="12700">
            <a:solidFill>
              <a:srgbClr val="EE9B00"/>
            </a:solidFill>
            <a:prstDash val="solid"/>
          </a:ln>
        </p:spPr>
        <p:txBody>
          <a:bodyPr/>
          <a:lstStyle/>
          <a:p>
            <a:endParaRPr lang="es-ES"/>
          </a:p>
        </p:txBody>
      </p:sp>
      <p:sp>
        <p:nvSpPr>
          <p:cNvPr id="5" name="Text 3"/>
          <p:cNvSpPr/>
          <p:nvPr/>
        </p:nvSpPr>
        <p:spPr>
          <a:xfrm>
            <a:off x="685800" y="1078992"/>
            <a:ext cx="8046720" cy="274320"/>
          </a:xfrm>
          <a:prstGeom prst="rect">
            <a:avLst/>
          </a:prstGeom>
          <a:noFill/>
          <a:ln/>
        </p:spPr>
        <p:txBody>
          <a:bodyPr wrap="square" lIns="0" tIns="0" rIns="0" bIns="0" rtlCol="0" anchor="ctr"/>
          <a:lstStyle/>
          <a:p>
            <a:pPr marL="0" indent="0">
              <a:buNone/>
            </a:pPr>
            <a:r>
              <a:rPr lang="en-US" sz="1300" dirty="0">
                <a:solidFill>
                  <a:srgbClr val="E9F5F9"/>
                </a:solidFill>
                <a:latin typeface="Calibri" pitchFamily="34" charset="0"/>
                <a:ea typeface="Calibri" pitchFamily="34" charset="-122"/>
                <a:cs typeface="Calibri" pitchFamily="34" charset="-120"/>
              </a:rPr>
              <a:t>8-qubit DRU circuit, 3 layers, local Pauli-Z₀ observable</a:t>
            </a:r>
            <a:endParaRPr lang="en-US" sz="1300" dirty="0"/>
          </a:p>
        </p:txBody>
      </p:sp>
      <p:sp>
        <p:nvSpPr>
          <p:cNvPr id="6" name="Shape 4"/>
          <p:cNvSpPr/>
          <p:nvPr/>
        </p:nvSpPr>
        <p:spPr>
          <a:xfrm>
            <a:off x="384048" y="1664208"/>
            <a:ext cx="201168" cy="201168"/>
          </a:xfrm>
          <a:prstGeom prst="ellipse">
            <a:avLst/>
          </a:prstGeom>
          <a:solidFill>
            <a:srgbClr val="EE9B00"/>
          </a:solidFill>
          <a:ln w="12700">
            <a:solidFill>
              <a:srgbClr val="EE9B00"/>
            </a:solidFill>
            <a:prstDash val="solid"/>
          </a:ln>
        </p:spPr>
        <p:txBody>
          <a:bodyPr/>
          <a:lstStyle/>
          <a:p>
            <a:endParaRPr lang="es-ES"/>
          </a:p>
        </p:txBody>
      </p:sp>
      <p:sp>
        <p:nvSpPr>
          <p:cNvPr id="7" name="Text 5"/>
          <p:cNvSpPr/>
          <p:nvPr/>
        </p:nvSpPr>
        <p:spPr>
          <a:xfrm>
            <a:off x="685800" y="1627632"/>
            <a:ext cx="8046720" cy="274320"/>
          </a:xfrm>
          <a:prstGeom prst="rect">
            <a:avLst/>
          </a:prstGeom>
          <a:noFill/>
          <a:ln/>
        </p:spPr>
        <p:txBody>
          <a:bodyPr wrap="square" lIns="0" tIns="0" rIns="0" bIns="0" rtlCol="0" anchor="ctr"/>
          <a:lstStyle/>
          <a:p>
            <a:pPr marL="0" indent="0">
              <a:buNone/>
            </a:pPr>
            <a:r>
              <a:rPr lang="en-US" sz="1300" dirty="0">
                <a:solidFill>
                  <a:srgbClr val="E9F5F9"/>
                </a:solidFill>
                <a:latin typeface="Calibri" pitchFamily="34" charset="0"/>
                <a:ea typeface="Calibri" pitchFamily="34" charset="-122"/>
                <a:cs typeface="Calibri" pitchFamily="34" charset="-120"/>
              </a:rPr>
              <a:t>Arctan encoding + running statistics → bounded rotation angles</a:t>
            </a:r>
            <a:endParaRPr lang="en-US" sz="1300" dirty="0"/>
          </a:p>
        </p:txBody>
      </p:sp>
      <p:sp>
        <p:nvSpPr>
          <p:cNvPr id="8" name="Shape 6"/>
          <p:cNvSpPr/>
          <p:nvPr/>
        </p:nvSpPr>
        <p:spPr>
          <a:xfrm>
            <a:off x="384048" y="2212848"/>
            <a:ext cx="201168" cy="201168"/>
          </a:xfrm>
          <a:prstGeom prst="ellipse">
            <a:avLst/>
          </a:prstGeom>
          <a:solidFill>
            <a:srgbClr val="EE9B00"/>
          </a:solidFill>
          <a:ln w="12700">
            <a:solidFill>
              <a:srgbClr val="EE9B00"/>
            </a:solidFill>
            <a:prstDash val="solid"/>
          </a:ln>
        </p:spPr>
        <p:txBody>
          <a:bodyPr/>
          <a:lstStyle/>
          <a:p>
            <a:endParaRPr lang="es-ES"/>
          </a:p>
        </p:txBody>
      </p:sp>
      <p:sp>
        <p:nvSpPr>
          <p:cNvPr id="9" name="Text 7"/>
          <p:cNvSpPr/>
          <p:nvPr/>
        </p:nvSpPr>
        <p:spPr>
          <a:xfrm>
            <a:off x="685800" y="2176272"/>
            <a:ext cx="8046720" cy="274320"/>
          </a:xfrm>
          <a:prstGeom prst="rect">
            <a:avLst/>
          </a:prstGeom>
          <a:noFill/>
          <a:ln/>
        </p:spPr>
        <p:txBody>
          <a:bodyPr wrap="square" lIns="0" tIns="0" rIns="0" bIns="0" rtlCol="0" anchor="ctr"/>
          <a:lstStyle/>
          <a:p>
            <a:pPr marL="0" indent="0">
              <a:buNone/>
            </a:pPr>
            <a:r>
              <a:rPr lang="en-US" sz="1300" dirty="0">
                <a:solidFill>
                  <a:srgbClr val="E9F5F9"/>
                </a:solidFill>
                <a:latin typeface="Calibri" pitchFamily="34" charset="0"/>
                <a:ea typeface="Calibri" pitchFamily="34" charset="-122"/>
                <a:cs typeface="Calibri" pitchFamily="34" charset="-120"/>
              </a:rPr>
              <a:t>Identity-block init (w = −θ) → non-vanishing gradients at step 0</a:t>
            </a:r>
            <a:endParaRPr lang="en-US" sz="1300" dirty="0"/>
          </a:p>
        </p:txBody>
      </p:sp>
      <p:sp>
        <p:nvSpPr>
          <p:cNvPr id="10" name="Shape 8"/>
          <p:cNvSpPr/>
          <p:nvPr/>
        </p:nvSpPr>
        <p:spPr>
          <a:xfrm>
            <a:off x="384048" y="2761488"/>
            <a:ext cx="201168" cy="201168"/>
          </a:xfrm>
          <a:prstGeom prst="ellipse">
            <a:avLst/>
          </a:prstGeom>
          <a:solidFill>
            <a:srgbClr val="EE9B00"/>
          </a:solidFill>
          <a:ln w="12700">
            <a:solidFill>
              <a:srgbClr val="EE9B00"/>
            </a:solidFill>
            <a:prstDash val="solid"/>
          </a:ln>
        </p:spPr>
        <p:txBody>
          <a:bodyPr/>
          <a:lstStyle/>
          <a:p>
            <a:endParaRPr lang="es-ES"/>
          </a:p>
        </p:txBody>
      </p:sp>
      <p:sp>
        <p:nvSpPr>
          <p:cNvPr id="11" name="Text 9"/>
          <p:cNvSpPr/>
          <p:nvPr/>
        </p:nvSpPr>
        <p:spPr>
          <a:xfrm>
            <a:off x="685800" y="2724912"/>
            <a:ext cx="8046720" cy="274320"/>
          </a:xfrm>
          <a:prstGeom prst="rect">
            <a:avLst/>
          </a:prstGeom>
          <a:noFill/>
          <a:ln/>
        </p:spPr>
        <p:txBody>
          <a:bodyPr wrap="square" lIns="0" tIns="0" rIns="0" bIns="0" rtlCol="0" anchor="ctr"/>
          <a:lstStyle/>
          <a:p>
            <a:pPr marL="0" indent="0">
              <a:buNone/>
            </a:pPr>
            <a:r>
              <a:rPr lang="en-US" sz="1300" dirty="0">
                <a:solidFill>
                  <a:srgbClr val="E9F5F9"/>
                </a:solidFill>
                <a:latin typeface="Calibri" pitchFamily="34" charset="0"/>
                <a:ea typeface="Calibri" pitchFamily="34" charset="-122"/>
                <a:cs typeface="Calibri" pitchFamily="34" charset="-120"/>
              </a:rPr>
              <a:t>Affine head (a, b) → unrestricted output range</a:t>
            </a:r>
            <a:endParaRPr lang="en-US" sz="1300" dirty="0"/>
          </a:p>
        </p:txBody>
      </p:sp>
      <p:sp>
        <p:nvSpPr>
          <p:cNvPr id="12" name="Shape 10"/>
          <p:cNvSpPr/>
          <p:nvPr/>
        </p:nvSpPr>
        <p:spPr>
          <a:xfrm>
            <a:off x="384048" y="3310128"/>
            <a:ext cx="201168" cy="201168"/>
          </a:xfrm>
          <a:prstGeom prst="ellipse">
            <a:avLst/>
          </a:prstGeom>
          <a:solidFill>
            <a:srgbClr val="EE9B00"/>
          </a:solidFill>
          <a:ln w="12700">
            <a:solidFill>
              <a:srgbClr val="EE9B00"/>
            </a:solidFill>
            <a:prstDash val="solid"/>
          </a:ln>
        </p:spPr>
        <p:txBody>
          <a:bodyPr/>
          <a:lstStyle/>
          <a:p>
            <a:endParaRPr lang="es-ES"/>
          </a:p>
        </p:txBody>
      </p:sp>
      <p:sp>
        <p:nvSpPr>
          <p:cNvPr id="13" name="Text 11"/>
          <p:cNvSpPr/>
          <p:nvPr/>
        </p:nvSpPr>
        <p:spPr>
          <a:xfrm>
            <a:off x="685800" y="3273552"/>
            <a:ext cx="8046720" cy="274320"/>
          </a:xfrm>
          <a:prstGeom prst="rect">
            <a:avLst/>
          </a:prstGeom>
          <a:noFill/>
          <a:ln/>
        </p:spPr>
        <p:txBody>
          <a:bodyPr wrap="square" lIns="0" tIns="0" rIns="0" bIns="0" rtlCol="0" anchor="ctr"/>
          <a:lstStyle/>
          <a:p>
            <a:pPr marL="0" indent="0">
              <a:buNone/>
            </a:pPr>
            <a:r>
              <a:rPr lang="en-US" sz="1300" dirty="0">
                <a:solidFill>
                  <a:srgbClr val="E9F5F9"/>
                </a:solidFill>
                <a:latin typeface="Calibri" pitchFamily="34" charset="0"/>
                <a:ea typeface="Calibri" pitchFamily="34" charset="-122"/>
                <a:cs typeface="Calibri" pitchFamily="34" charset="-120"/>
              </a:rPr>
              <a:t>10 tests covering: shapes, gradients, encoding, param count, robustness</a:t>
            </a:r>
            <a:endParaRPr lang="en-US" sz="1300" dirty="0"/>
          </a:p>
        </p:txBody>
      </p:sp>
      <p:sp>
        <p:nvSpPr>
          <p:cNvPr id="14" name="Text 12"/>
          <p:cNvSpPr/>
          <p:nvPr/>
        </p:nvSpPr>
        <p:spPr>
          <a:xfrm>
            <a:off x="384048" y="4160520"/>
            <a:ext cx="1737360" cy="36576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Next steps →</a:t>
            </a:r>
            <a:endParaRPr lang="en-US" sz="1300" dirty="0"/>
          </a:p>
        </p:txBody>
      </p:sp>
      <p:sp>
        <p:nvSpPr>
          <p:cNvPr id="15" name="Text 13"/>
          <p:cNvSpPr/>
          <p:nvPr/>
        </p:nvSpPr>
        <p:spPr>
          <a:xfrm>
            <a:off x="2121408" y="4160520"/>
            <a:ext cx="6675120" cy="365760"/>
          </a:xfrm>
          <a:prstGeom prst="rect">
            <a:avLst/>
          </a:prstGeom>
          <a:noFill/>
          <a:ln/>
        </p:spPr>
        <p:txBody>
          <a:bodyPr wrap="square" lIns="0" tIns="0" rIns="0" bIns="0" rtlCol="0" anchor="ctr"/>
          <a:lstStyle/>
          <a:p>
            <a:pPr marL="0" indent="0">
              <a:buNone/>
            </a:pPr>
            <a:r>
              <a:rPr lang="en-US" sz="1150" dirty="0">
                <a:solidFill>
                  <a:srgbClr val="0D1B2A"/>
                </a:solidFill>
                <a:latin typeface="Calibri" pitchFamily="34" charset="0"/>
                <a:ea typeface="Calibri" pitchFamily="34" charset="-122"/>
                <a:cs typeface="Calibri" pitchFamily="34" charset="-120"/>
              </a:rPr>
              <a:t>Integrate with Q-IQL training loop   ·   Benchmark lightning.qubit vs default.qubit   ·   Active-layer scheduler</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2585</Words>
  <Application>Microsoft Office PowerPoint</Application>
  <PresentationFormat>Presentación en pantalla (16:9)</PresentationFormat>
  <Paragraphs>148</Paragraphs>
  <Slides>7</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Value Network – Q-IQL</dc:title>
  <dc:subject>PptxGenJS Presentation</dc:subject>
  <dc:creator>PptxGenJS</dc:creator>
  <cp:lastModifiedBy>Lidia Luján López</cp:lastModifiedBy>
  <cp:revision>2</cp:revision>
  <dcterms:created xsi:type="dcterms:W3CDTF">2026-04-28T06:49:18Z</dcterms:created>
  <dcterms:modified xsi:type="dcterms:W3CDTF">2026-04-28T12:35:10Z</dcterms:modified>
</cp:coreProperties>
</file>